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8" Type="http://schemas.openxmlformats.org/officeDocument/2006/relationships/presProps" Target="presProps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3" Type="http://schemas.openxmlformats.org/officeDocument/2006/relationships/slide" Target="slides/slide3.xml" /><Relationship Id="rId14" Type="http://schemas.openxmlformats.org/officeDocument/2006/relationships/slide" Target="slides/slide14.xml" /><Relationship Id="rId19" Type="http://schemas.openxmlformats.org/officeDocument/2006/relationships/tableStyles" Target="tableStyles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17" Type="http://schemas.openxmlformats.org/officeDocument/2006/relationships/notesMaster" Target="notesMasters/notesMaster1.xml" /><Relationship Id="rId20" Type="http://schemas.openxmlformats.org/officeDocument/2006/relationships/viewProps" Target="viewProps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14.svg" /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19.svg" /><Relationship Id="rId1" Type="http://schemas.openxmlformats.org/officeDocument/2006/relationships/image" Target="media/image18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media/image7.svg" /><Relationship Id="rId1" Type="http://schemas.openxmlformats.org/officeDocument/2006/relationships/image" Target="media/image5.svg" /><Relationship Id="rId2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11.svg" /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&#10;  width: '1280px', height: '720px',&#10;  background: 'linear-gradient(135deg, #8B1A1A 0%, #6B1010 50%, #8B1A1A 100%)',&#10;  padding: '60px', flexDirection: 'row', alignItems: 'stretch',&#10;  position: 'relative', overflow: 'hidden',&#10;}}&gt;&#10;  {/* 装饰圆环 */}&#10;  &lt;svg width={300} height={300} viewBox=&quot;0 0 300 300&quot; style={{ position: 'absolute', right: 0, top: 0, opacity: 0.15 }}&gt;&#10;    &lt;circle cx=&quot;150&quot; cy=&quot;150&quot; r=&quot;140&quot; fill=&quot;none&quot; stroke=&quot;#fff&quot; strokeWidth=&quot;2&quot; /&gt;&#10;    &lt;circle cx=&quot;150&quot; cy=&quot;150&quot; r=&quot;100&quot; fill=&quot;none&quot; stroke=&quot;#fff&quot; strokeWidth=&quot;2&quot; /&gt;&#10;  &lt;/svg&gt;&#10;  {/* 左侧标题区 */}&#10;  &lt;Box style={{ flex: 1, flexDirection: 'column', justifyContent: 'center', zIndex: 1 }}&gt;&#10;    &lt;Text style={{ fontSize: 14, color: '#C9A227', letterSpacing: 4, marginBottom: 16 }}&gt;&#10;      &lt;span style={{ color: '#C9A227' }}&gt;🔴 读书卡片 · 麻将理论精华&lt;/span&gt;&#10;    &lt;/Text&gt;&#10;    &lt;Text style={{ fontSize: 56, fontWeight: 'bold', color: '#FDF6EC', lineHeight: 1.2, marginBottom: 12 }}&gt;&#10;      朱扬麻将理论精华&#10;    &lt;/Text&gt;&#10;    &lt;Text style={{ fontSize: 28, color: '#F3D9B5', marginBottom: 24 }}&gt;&#10;      机会数 · 成都麻将高级打法&#10;    &lt;/Text&gt;&#10;    &lt;Text style={{ fontSize: 18, color: '#E8C98A', lineHeight: 1.6, maxWidth: 540 }}&gt;&#10;      把两本书的硬核理论，拆成图文并茂的知识页。&lt;br /&gt;&#10;      核心结论均源自微信读书全书热门划线，可在 App 内溯源。&#10;    &lt;/Text&gt;&#10;    &lt;Box style={{ flexDirection: 'row', gap: 12, marginTop: 28 }}&gt;&#10;      &lt;Box style={{ background: 'rgba(255,255,255,0.12)', border: '1px solid rgba(255,255,255,0.25)', borderRadius: 999, padding: '8px 16px' }}&gt;&#10;        &lt;Text style={{ fontSize: 14, color: '#FDF6EC' }}&gt;&#10;          📖 &lt;span style={{ color: '#E8C98A', fontWeight: 'bold' }}&gt;机会数理论与实战&lt;/span&gt; · 评分 79.2&#10;        &lt;/Text&gt;&#10;      &lt;/Box&gt;&#10;      &lt;Box style={{ background: 'rgba(255,255,255,0.12)', border: '1px solid rgba(255,255,255,0.25)', borderRadius: 999, padding: '8px 16px' }}&gt;&#10;        &lt;Text style={{ fontSize: 14, color: '#FDF6EC' }}&gt;&#10;          📖 &lt;span style={{ color: '#E8C98A', fontWeight: 'bold' }}&gt;成都麻将高级打法&lt;/span&gt; · 评分 83.2&#10;        &lt;/Text&gt;&#10;      &lt;/Box&gt;&#10;    &lt;/Box&gt;&#10;  &lt;/Box&gt;&#10;  {/* 右侧 SVG 牌块装饰 */}&#10;  &lt;Box style={{ width: 420, alignItems: 'center', justifyContent: 'flex-end', zIndex: 1, paddingBottom: 20 }}&gt;&#10;    &lt;svg width={380} height={420} viewBox=&quot;0 0 380 420&quot;&gt;&#10;      {/* 大牌：9万 */}&#10;      &lt;rect x=&quot;120&quot; y=&quot;40&quot; width=&quot;80&quot; height=&quot;100&quot; rx=&quot;10&quot; fill=&quot;#FFFEF8&quot; stroke=&quot;#C9A227&quot; strokeWidth=&quot;3&quot; opacity=&quot;0.95&quot; /&gt;&#10;      &lt;text x=&quot;160&quot; y=&quot;80&quot; textAnchor=&quot;middle&quot; fontSize=&quot;42&quot; fontWeight=&quot;bold&quot; fill=&quot;#1A7F5C&quot;&gt;9&lt;/text&gt;&#10;      &lt;text x=&quot;160&quot; y=&quot;110&quot; textAnchor=&quot;middle&quot; fontSize=&quot;16&quot; fill=&quot;#1A7F5C&quot;&gt;万&lt;/text&gt;&#10;      {/* 小牌横排 */}&#10;      &lt;rect x=&quot;60&quot; y=&quot;180&quot; width=&quot;48&quot; height=&quot;60&quot; rx=&quot;6&quot; fill=&quot;#FFFEF8&quot; stroke=&quot;#D8CBB4&quot; strokeWidth=&quot;1.5&quot; opacity=&quot;0.8&quot; /&gt;&#10;      &lt;text x=&quot;84&quot; y=&quot;208&quot; textAnchor=&quot;middle&quot; fontSize=&quot;20&quot; fontWeight=&quot;bold&quot; fill=&quot;#1A7F5C&quot;&gt;3&lt;/text&gt;&#10;      &lt;text x=&quot;84&quot; y=&quot;226&quot; textAnchor=&quot;middle&quot; fontSize=&quot;11&quot; fill=&quot;#1A7F5C&quot;&gt;条&lt;/text&gt;&#10;      &lt;rect x=&quot;116&quot; y=&quot;180&quot; width=&quot;48&quot; height=&quot;60&quot; rx=&quot;6&quot; fill=&quot;#FFFEF8&quot; stroke=&quot;#D8CBB4&quot; strokeWidth=&quot;1.5&quot; opacity=&quot;0.8&quot; /&gt;&#10;      &lt;text x=&quot;140&quot; y=&quot;208&quot; textAnchor=&quot;middle&quot; fontSize=&quot;20&quot; fontWeight=&quot;bold&quot; fill=&quot;#1A7F5C&quot;&gt;7&lt;/text&gt;&#10;      &lt;text x=&quot;140&quot; y=&quot;226&quot; textAnchor=&quot;middle&quot; fontSize=&quot;11&quot; fill=&quot;#1A7F5C&quot;&gt;条&lt;/text&gt;&#10;      &lt;rect x=&quot;172&quot; y=&quot;180&quot; width=&quot;48&quot; height=&quot;60&quot; rx=&quot;6&quot; fill=&quot;#FFFEF8&quot; stroke=&quot;#C9A227&quot; strokeWidth=&quot;2.5&quot; opacity=&quot;0.9&quot; /&gt;&#10;      &lt;text x=&quot;196&quot; y=&quot;208&quot; textAnchor=&quot;middle&quot; fontSize=&quot;20&quot; fontWeight=&quot;bold&quot; fill=&quot;#1A7F5C&quot;&gt;2&lt;/text&gt;&#10;      &lt;text x=&quot;196&quot; y=&quot;226&quot; textAnchor=&quot;middle&quot; fontSize=&quot;11&quot; fill=&quot;#1A7F5C&quot;&gt;万&lt;/text&gt;&#10;      &lt;rect x=&quot;228&quot; y=&quot;180&quot; width=&quot;48&quot; height=&quot;60&quot; rx=&quot;6&quot; fill=&quot;#FFFEF8&quot; stroke=&quot;#D8CBB4&quot; strokeWidth=&quot;1.5&quot; opacity=&quot;0.8&quot; /&gt;&#10;      &lt;text x=&quot;252&quot; y=&quot;208&quot; textAnchor=&quot;middle&quot; fontSize=&quot;20&quot; fontWeight=&quot;bold&quot; fill=&quot;#C0392B&quot;&gt;8&lt;/text&gt;&#10;      &lt;text x=&quot;252&quot; y=&quot;226&quot; textAnchor=&quot;middle&quot; fontSize=&quot;11&quot; fill=&quot;#C0392B&quot;&gt;筒&lt;/text&gt;&#10;      &lt;rect x=&quot;284&quot; y=&quot;180&quot; width=&quot;48&quot; height=&quot;60&quot; rx=&quot;6&quot; fill=&quot;#FFFEF8&quot; stroke=&quot;#D8CBB4&quot; strokeWidth=&quot;1.5&quot; opacity=&quot;0.8&quot; /&gt;&#10;      &lt;text x=&quot;308&quot; y=&quot;208&quot; textAnchor=&quot;middle&quot; fontSize=&quot;20&quot; fontWeight=&quot;bold&quot; fill=&quot;#C0392B&quot;&gt;3&lt;/text&gt;&#10;      &lt;text x=&quot;308&quot; y=&quot;226&quot; textAnchor=&quot;middle&quot; fontSize=&quot;11&quot; fill=&quot;#C0392B&quot;&gt;筒&lt;/text&gt;&#10;      {/* 下方说明 */}&#10;      &lt;text x=&quot;190&quot; y=&quot;290&quot; textAnchor=&quot;middle&quot; fontSize=&quot;14&quot; fill=&quot;#E8C98A&quot; opacity=&quot;0.7&quot;&gt;27 · 37 · 38 — 最强两张牌组合&lt;/text&gt;&#10;      {/* 公式装饰 */}&#10;      &lt;rect x=&quot;80&quot; y=&quot;320&quot; width=&quot;220&quot; height=&quot;60&quot; rx=&quot;10&quot; fill=&quot;rgba(201,162,39,0.12)&quot; stroke=&quot;#C9A227&quot; strokeWidth=&quot;1&quot; opacity=&quot;0.6&quot; /&gt;&#10;      &lt;text x=&quot;190&quot; y=&quot;345&quot; textAnchor=&quot;middle&quot; fontSize=&quot;20&quot; fontWeight=&quot;bold&quot; fill=&quot;#C9A227&quot;&gt;机会数 = 进张 × 4 − 已见&lt;/text&gt;&#10;      &lt;text x=&quot;190&quot; y=&quot;368&quot; textAnchor=&quot;middle&quot; fontSize=&quot;12&quot; fill=&quot;#E8C98A&quot; opacity=&quot;0.7&quot;&gt;朱扬理论核心公式&lt;/text&gt;&#10;    &lt;/svg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1A1A"/>
              </a:gs>
              <a:gs pos="50000">
                <a:srgbClr val="6B1010"/>
              </a:gs>
              <a:gs pos="100000">
                <a:srgbClr val="8B1A1A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34500" y="0"/>
            <a:ext cx="2857500" cy="285750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1933575"/>
            <a:ext cx="704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C9A227"/>
                </a:solidFill>
                <a:latin typeface="Microsoft YaHei"/>
                <a:ea typeface="Microsoft YaHei"/>
              </a:rPr>
              <a:t>🔴 </a:t>
            </a:r>
            <a:r>
              <a:rPr lang="zh-CN" sz="1050" spc="300">
                <a:solidFill>
                  <a:srgbClr val="C9A227"/>
                </a:solidFill>
                <a:latin typeface="Microsoft YaHei"/>
                <a:ea typeface="Microsoft YaHei"/>
              </a:rPr>
              <a:t>读书卡片</a:t>
            </a:r>
            <a:r>
              <a:rPr lang="en-US" sz="1050" spc="300">
                <a:solidFill>
                  <a:srgbClr val="C9A227"/>
                </a:solidFill>
                <a:latin typeface="Microsoft YaHei"/>
                <a:ea typeface="Microsoft YaHei"/>
              </a:rPr>
              <a:t> · </a:t>
            </a:r>
            <a:r>
              <a:rPr lang="zh-CN" sz="1050" spc="300">
                <a:solidFill>
                  <a:srgbClr val="C9A227"/>
                </a:solidFill>
                <a:latin typeface="Microsoft YaHei"/>
                <a:ea typeface="Microsoft YaHei"/>
              </a:rPr>
              <a:t>麻将理论精华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2247900"/>
            <a:ext cx="70485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DF6EC"/>
                </a:solidFill>
                <a:latin typeface="Microsoft YaHei"/>
                <a:ea typeface="Microsoft YaHei"/>
              </a:rPr>
              <a:t>朱扬麻将理论精华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3133725"/>
            <a:ext cx="7048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F3D9B5"/>
                </a:solidFill>
                <a:latin typeface="Microsoft YaHei"/>
                <a:ea typeface="Microsoft YaHei"/>
              </a:rPr>
              <a:t>机会数</a:t>
            </a:r>
            <a:r>
              <a:rPr lang="en-US" sz="2100">
                <a:solidFill>
                  <a:srgbClr val="F3D9B5"/>
                </a:solidFill>
                <a:latin typeface="Microsoft YaHei"/>
                <a:ea typeface="Microsoft YaHei"/>
              </a:rPr>
              <a:t> · </a:t>
            </a:r>
            <a:r>
              <a:rPr lang="zh-CN" sz="2100">
                <a:solidFill>
                  <a:srgbClr val="F3D9B5"/>
                </a:solidFill>
                <a:latin typeface="Microsoft YaHei"/>
                <a:ea typeface="Microsoft YaHei"/>
              </a:rPr>
              <a:t>成都麻将高级打法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3686175"/>
            <a:ext cx="51435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把两本书的硬核理论，拆成图文并茂的知识页。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核心结论均源自微信读书全书热门划线，可在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 App 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内溯源。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71500" y="4619625"/>
            <a:ext cx="2228850" cy="314325"/>
          </a:xfrm>
          <a:prstGeom prst="roundRect">
            <a:avLst>
              <a:gd name="adj" fmla="val 302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23900" y="4695825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DF6EC"/>
                </a:solidFill>
                <a:latin typeface="Microsoft YaHei"/>
                <a:ea typeface="Microsoft YaHei"/>
              </a:rPr>
              <a:t>📖 </a:t>
            </a:r>
            <a:r>
              <a:rPr lang="zh-CN" sz="1050" b="1">
                <a:solidFill>
                  <a:srgbClr val="E8C98A"/>
                </a:solidFill>
                <a:latin typeface="Microsoft YaHei"/>
                <a:ea typeface="Microsoft YaHei"/>
              </a:rPr>
              <a:t>机会数理论与实战</a:t>
            </a:r>
            <a:r>
              <a:rPr lang="en-US" sz="1050">
                <a:solidFill>
                  <a:srgbClr val="FDF6EC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DF6EC"/>
                </a:solidFill>
                <a:latin typeface="Microsoft YaHei"/>
                <a:ea typeface="Microsoft YaHei"/>
              </a:rPr>
              <a:t>评分</a:t>
            </a:r>
            <a:r>
              <a:rPr lang="en-US" sz="1050">
                <a:solidFill>
                  <a:srgbClr val="FDF6EC"/>
                </a:solidFill>
                <a:latin typeface="Microsoft YaHei"/>
                <a:ea typeface="Microsoft YaHei"/>
              </a:rPr>
              <a:t> 79.2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914650" y="4619625"/>
            <a:ext cx="2228850" cy="314325"/>
          </a:xfrm>
          <a:prstGeom prst="roundRect">
            <a:avLst>
              <a:gd name="adj" fmla="val 302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067050" y="4695825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DF6EC"/>
                </a:solidFill>
                <a:latin typeface="Microsoft YaHei"/>
                <a:ea typeface="Microsoft YaHei"/>
              </a:rPr>
              <a:t>📖 </a:t>
            </a:r>
            <a:r>
              <a:rPr lang="zh-CN" sz="1050" b="1">
                <a:solidFill>
                  <a:srgbClr val="E8C98A"/>
                </a:solidFill>
                <a:latin typeface="Microsoft YaHei"/>
                <a:ea typeface="Microsoft YaHei"/>
              </a:rPr>
              <a:t>成都麻将高级打法</a:t>
            </a:r>
            <a:r>
              <a:rPr lang="en-US" sz="1050">
                <a:solidFill>
                  <a:srgbClr val="FDF6EC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DF6EC"/>
                </a:solidFill>
                <a:latin typeface="Microsoft YaHei"/>
                <a:ea typeface="Microsoft YaHei"/>
              </a:rPr>
              <a:t>评分</a:t>
            </a:r>
            <a:r>
              <a:rPr lang="en-US" sz="1050">
                <a:solidFill>
                  <a:srgbClr val="FDF6EC"/>
                </a:solidFill>
                <a:latin typeface="Microsoft YaHei"/>
                <a:ea typeface="Microsoft YaHei"/>
              </a:rPr>
              <a:t> 83.2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10500" y="2095500"/>
            <a:ext cx="3619500" cy="40005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52" name="" descr="&lt;Slide style={{&#10;  width: '1280px', height: '720px',&#10;  background: '#FAF7F2', padding: '40px 60px 20px',&#10;  flexDirection: 'column',&#10;}}&gt;&#10;  {/* A 标题区 */}&#10;  &lt;Box style={{ marginBottom: 28 }}&gt;&#10;    &lt;Text style={{ fontSize: 36, fontWeight: 'bold', color: '#8B1A1A', marginBottom: 6 }}&gt;目录 · 四大模块&lt;/Text&gt;&#10;    &lt;Text style={{ fontSize: 18, color: '#6B6B6B' }}&gt;把朱扬两本书拆成你能用上的四层知识&lt;/Text&gt;&#10;  &lt;/Box&gt;&#10;  {/* B 内容区 - 4卡片横排 */}&#10;  &lt;Box style={{ flexDirection: 'row', gap: 20, flex: 1, height: 460 }}&gt;&#10;    {/* 卡片1 */}&#10;    &lt;Box style={{&#10;      flex: 1, background: '#FFFEF8', borderRadius: 16, padding: 24,&#10;      boxShadow: '0 4px 16px rgba(60,40,20,0.08)', border: '1px solid #eee4d2',&#10;      flexDirection: 'column', gap: 14,&#10;    }}&gt;&#10;      &lt;Box style={{ width: 56, height: 56, borderRadius: 14, background: '#8B1A1A', justifyContent: 'center', alignItems: 'center' }}&gt;&#10;        &lt;Text style={{ fontSize: 28, fontWeight: 'bold', color: '#fff' }}&gt;1&lt;/Text&gt;&#10;      &lt;/Box&gt;&#10;      &lt;Text style={{ fontSize: 24, fontWeight: 'bold', color: '#3a2a1a' }}&gt;机会数理论&lt;/Text&gt;&#10;      &lt;Text style={{ fontSize: 16, color: '#4a4038', lineHeight: 1.7 }}&gt;&#10;        什么是&quot;下听&quot;？机会数怎么算？基准值是多少？这是朱扬理论的&lt;span style={{ color: '#8B1A1A', fontWeight: 'bold' }}&gt;核心武器&lt;/span&gt;——用数字量化你离听牌有多远。&#10;      &lt;/Text&gt;&#10;      &lt;Box style={{ marginTop: 'auto' }}&gt;&#10;        &lt;Box style={{ background: '#F5EDE0', borderRadius: 8, padding: '6px 10px', flexDirection: 'row', gap: 8, alignItems: 'center' }}&gt;&#10;          &lt;Text style={{ fontSize: 13, color: '#8a7a5f' }}&gt;📄 P03 - P06&lt;/Text&gt;&#10;        &lt;/Box&gt;&#10;      &lt;/Box&gt;&#10;    &lt;/Box&gt;&#10;    {/* 卡片2 */}&#10;    &lt;Box style={{&#10;      flex: 1, background: '#FFFEF8', borderRadius: 16, padding: 24,&#10;      boxShadow: '0 4px 16px rgba(60,40,20,0.08)', border: '1px solid #eee4d2',&#10;      flexDirection: 'column', gap: 14,&#10;    }}&gt;&#10;      &lt;Box style={{ width: 56, height: 56, borderRadius: 14, background: '#1A7F5C', justifyContent: 'center', alignItems: 'center' }}&gt;&#10;        &lt;Text style={{ fontSize: 28, fontWeight: 'bold', color: '#fff' }}&gt;2&lt;/Text&gt;&#10;      &lt;/Box&gt;&#10;      &lt;Text style={{ fontSize: 24, fontWeight: 'bold', color: '#3a2a1a' }}&gt;组合秘籍&lt;/Text&gt;&#10;      &lt;Text style={{ fontSize: 16, color: '#4a4038', lineHeight: 1.7 }}&gt;&#10;        为什么 27/37/38 最强？&quot;辐射覆盖1-9&quot;是什么意思？四人抬轿和7张无听怎么选？&lt;span style={{ color: '#1A7F5C', fontWeight: 'bold' }}&gt;两张牌的辐射力&lt;/span&gt;决定你拆哪张。&#10;      &lt;/Text&gt;&#10;      &lt;Box style={{ marginTop: 'auto' }}&gt;&#10;        &lt;Box style={{ background: '#F5EDE0', borderRadius: 8, padding: '6px 10px', flexDirection: 'row', gap: 8, alignItems: 'center' }}&gt;&#10;          &lt;Text style={{ fontSize: 13, color: '#8a7a5f' }}&gt;📄 P07 - P09&lt;/Text&gt;&#10;        &lt;/Box&gt;&#10;      &lt;/Box&gt;&#10;    &lt;/Box&gt;&#10;    {/* 卡片3 */}&#10;    &lt;Box style={{&#10;      flex: 1, background: '#FFFEF8', borderRadius: 16, padding: 24,&#10;      boxShadow: '0 4px 16px rgba(60,40,20,0.08)', border: '1px solid #eee4d2',&#10;      flexDirection: 'column', gap: 14,&#10;    }}&gt;&#10;      &lt;Box style={{ width: 56, height: 56, borderRadius: 14, background: '#C9A227', justifyContent: 'center', alignItems: 'center' }}&gt;&#10;        &lt;Text style={{ fontSize: 28, fontWeight: 'bold', color: '#fff' }}&gt;3&lt;/Text&gt;&#10;      &lt;/Box&gt;&#10;      &lt;Text style={{ fontSize: 24, fontWeight: 'bold', color: '#3a2a1a' }}&gt;攻防战术&lt;/Text&gt;&#10;      &lt;Text style={{ fontSize: 16, color: '#4a4038', lineHeight: 1.7 }}&gt;&#10;        开局三原则、踩线147/258/369、腾挪、放飞鸽、欺骗战术。&lt;span style={{ color: '#C9A227', fontWeight: 'bold' }}&gt;从开局到尾盘&lt;/span&gt;的生存法则，少放炮才能赢。&#10;      &lt;/Text&gt;&#10;      &lt;Box style={{ marginTop: 'auto' }}&gt;&#10;        &lt;Box style={{ background: '#F5EDE0', borderRadius: 8, padding: '6px 10px', flexDirection: 'row', gap: 8, alignItems: 'center' }}&gt;&#10;          &lt;Text style={{ fontSize: 13, color: '#8a7a5f' }}&gt;📄 P10 - P12&lt;/Text&gt;&#10;        &lt;/Box&gt;&#10;      &lt;/Box&gt;&#10;    &lt;/Box&gt;&#10;    {/* 卡片4 */}&#10;    &lt;Box style={{&#10;      flex: 1, background: '#FFFEF8', borderRadius: 16, padding: 24,&#10;      boxShadow: '0 4px 16px rgba(60,40,20,0.08)', border: '1px solid #eee4d2',&#10;      flexDirection: 'column', gap: 14,&#10;    }}&gt;&#10;      &lt;Box style={{ width: 56, height: 56, borderRadius: 14, background: '#6B6B6B', justifyContent: 'center', alignItems: 'center' }}&gt;&#10;        &lt;Text style={{ fontSize: 28, fontWeight: 'bold', color: '#fff' }}&gt;4&lt;/Text&gt;&#10;      &lt;/Box&gt;&#10;      &lt;Text style={{ fontSize: 24, fontWeight: 'bold', color: '#3a2a1a' }}&gt;实战速查&lt;/Text&gt;&#10;      &lt;Text style={{ fontSize: 16, color: '#4a4038', lineHeight: 1.7 }}&gt;&#10;        成都番种策略表、决策规则速查、理论→代码落地状态。这些理论已经变成你&lt;span style={{ color: '#8B1A1A', fontWeight: 'bold' }}&gt; majiang-ex 项目的 AI 大脑&lt;/span&gt;。&#10;      &lt;/Text&gt;&#10;      &lt;Box style={{ marginTop: 'auto' }}&gt;&#10;        &lt;Box style={{ background: '#F5EDE0', borderRadius: 8, padding: '6px 10px', flexDirection: 'row', gap: 8, alignItems: 'center' }}&gt;&#10;          &lt;Text style={{ fontSize: 13, color: '#8a7a5f' }}&gt;📄 P13 - P16&lt;/Text&gt;&#10;        &lt;/Box&gt;&#10;      &lt;/Box&gt;&#10;    &lt;/Box&gt;&#10;  &lt;/Box&gt;&#10;  {/* C 页脚 */}&#10;  &lt;Box style={{ height: 40, flexDirection: 'row', justifyContent: 'flex-end', alignItems: 'center', marginTop: 12 }}&gt;&#10;    &lt;Text style={{ fontSize: 14, color: '#a0a0a0' }}&gt;0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8B1A1A"/>
                </a:solidFill>
                <a:latin typeface="Microsoft YaHei"/>
                <a:ea typeface="Microsoft YaHei"/>
              </a:rPr>
              <a:t>目录</a:t>
            </a:r>
            <a:r>
              <a:rPr lang="en-US" sz="2700" b="1">
                <a:solidFill>
                  <a:srgbClr val="8B1A1A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8B1A1A"/>
                </a:solidFill>
                <a:latin typeface="Microsoft YaHei"/>
                <a:ea typeface="Microsoft YaHei"/>
              </a:rPr>
              <a:t>四大模块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857250"/>
            <a:ext cx="1104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B6B6B"/>
                </a:solidFill>
                <a:latin typeface="Microsoft YaHei"/>
                <a:ea typeface="Microsoft YaHei"/>
              </a:rPr>
              <a:t>把朱扬两本书拆成你能用上的四层知识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1333500"/>
            <a:ext cx="2619375" cy="4381500"/>
          </a:xfrm>
          <a:prstGeom prst="roundRect">
            <a:avLst>
              <a:gd name="adj" fmla="val 5818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  <a:effectLst>
            <a:outerShdw blurRad="152400" dist="38100" dir="5400000">
              <a:srgbClr val="3C2814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800100" y="15621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90600" y="1666875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2162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A2A1A"/>
                </a:solidFill>
                <a:latin typeface="Microsoft YaHei"/>
                <a:ea typeface="Microsoft YaHei"/>
              </a:rPr>
              <a:t>机会数理论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00100" y="2638425"/>
            <a:ext cx="21621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什么是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下听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？机会数怎么算？基准值是多少？这是朱扬理论的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核心武器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——用数字量化你离听牌有多远。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800100" y="5219700"/>
            <a:ext cx="2162175" cy="266700"/>
          </a:xfrm>
          <a:prstGeom prst="roundRect">
            <a:avLst>
              <a:gd name="adj" fmla="val 28571"/>
            </a:avLst>
          </a:prstGeom>
          <a:solidFill>
            <a:srgbClr val="F5EDE0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95350" y="52768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📄 P03 - P06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3381375" y="1333500"/>
            <a:ext cx="2619375" cy="4381500"/>
          </a:xfrm>
          <a:prstGeom prst="roundRect">
            <a:avLst>
              <a:gd name="adj" fmla="val 5818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  <a:effectLst>
            <a:outerShdw blurRad="152400" dist="38100" dir="5400000">
              <a:srgbClr val="3C2814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3609975" y="15621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800475" y="1666875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609975" y="2228850"/>
            <a:ext cx="2162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A2A1A"/>
                </a:solidFill>
                <a:latin typeface="Microsoft YaHei"/>
                <a:ea typeface="Microsoft YaHei"/>
              </a:rPr>
              <a:t>组合秘籍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609975" y="2638425"/>
            <a:ext cx="21621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为什么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27/37/38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最强？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辐射覆盖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1-9"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是什么意思？四人抬轿和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7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张无听怎么选？</a:t>
            </a:r>
            <a:r>
              <a:rPr lang="zh-CN" sz="1200" b="1">
                <a:solidFill>
                  <a:srgbClr val="1A7F5C"/>
                </a:solidFill>
                <a:latin typeface="Microsoft YaHei"/>
                <a:ea typeface="Microsoft YaHei"/>
              </a:rPr>
              <a:t>两张牌的辐射力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决定你拆哪张。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609975" y="5219700"/>
            <a:ext cx="2162175" cy="266700"/>
          </a:xfrm>
          <a:prstGeom prst="roundRect">
            <a:avLst>
              <a:gd name="adj" fmla="val 28571"/>
            </a:avLst>
          </a:prstGeom>
          <a:solidFill>
            <a:srgbClr val="F5EDE0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705225" y="52768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📄 P07 - P09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191250" y="1333500"/>
            <a:ext cx="2619375" cy="4381500"/>
          </a:xfrm>
          <a:prstGeom prst="roundRect">
            <a:avLst>
              <a:gd name="adj" fmla="val 5818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  <a:effectLst>
            <a:outerShdw blurRad="152400" dist="38100" dir="5400000">
              <a:srgbClr val="3C2814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6419850" y="15621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610350" y="1666875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419850" y="2228850"/>
            <a:ext cx="2162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A2A1A"/>
                </a:solidFill>
                <a:latin typeface="Microsoft YaHei"/>
                <a:ea typeface="Microsoft YaHei"/>
              </a:rPr>
              <a:t>攻防战术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419850" y="2638425"/>
            <a:ext cx="21621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开局三原则、踩线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147/258/369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、腾挪、放飞鸽、欺骗战术。</a:t>
            </a:r>
            <a:r>
              <a:rPr lang="zh-CN" sz="1200" b="1">
                <a:solidFill>
                  <a:srgbClr val="C9A227"/>
                </a:solidFill>
                <a:latin typeface="Microsoft YaHei"/>
                <a:ea typeface="Microsoft YaHei"/>
              </a:rPr>
              <a:t>从开局到尾盘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的生存法则，少放炮才能赢。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419850" y="5219700"/>
            <a:ext cx="2162175" cy="266700"/>
          </a:xfrm>
          <a:prstGeom prst="roundRect">
            <a:avLst>
              <a:gd name="adj" fmla="val 28571"/>
            </a:avLst>
          </a:prstGeom>
          <a:solidFill>
            <a:srgbClr val="F5EDE0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515100" y="52768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📄 P10 - P12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9001125" y="1333500"/>
            <a:ext cx="2619375" cy="4381500"/>
          </a:xfrm>
          <a:prstGeom prst="roundRect">
            <a:avLst>
              <a:gd name="adj" fmla="val 5818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  <a:effectLst>
            <a:outerShdw blurRad="152400" dist="38100" dir="5400000">
              <a:srgbClr val="3C2814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9229725" y="15621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6B6B6B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420225" y="1666875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229725" y="2228850"/>
            <a:ext cx="2162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A2A1A"/>
                </a:solidFill>
                <a:latin typeface="Microsoft YaHei"/>
                <a:ea typeface="Microsoft YaHei"/>
              </a:rPr>
              <a:t>实战速查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229725" y="2638425"/>
            <a:ext cx="21621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成都番种策略表、决策规则速查、理论→代码落地状态。这些理论已经变成你</a:t>
            </a: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 majiang-ex 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项目的</a:t>
            </a: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 AI 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大脑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9229725" y="5219700"/>
            <a:ext cx="2162175" cy="266700"/>
          </a:xfrm>
          <a:prstGeom prst="roundRect">
            <a:avLst>
              <a:gd name="adj" fmla="val 28571"/>
            </a:avLst>
          </a:prstGeom>
          <a:solidFill>
            <a:srgbClr val="F5EDE0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324975" y="52768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📄 P13 - P16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5" name="" descr="&lt;Slide style={{&#10;  width: '1280px', height: '720px',&#10;  background: 'linear-gradient(135deg, #8B1A1A 0%, #5C0E0E 50%, #8B1A1A 100%)',&#10;  padding: '60px', flexDirection: 'column', justifyContent: 'center', alignItems: 'center',&#10;  position: 'relative', overflow: 'hidden',&#10;}}&gt;&#10;  {/* 装饰元素 */}&#10;  &lt;svg width={600} height={600} viewBox=&quot;0 0 600 600&quot; style={{ position: 'absolute', right: 0, top: 0, opacity: 0.06 }}&gt;&#10;    &lt;circle cx=&quot;300&quot; cy=&quot;300&quot; r=&quot;280&quot; fill=&quot;none&quot; stroke=&quot;#fff&quot; strokeWidth=&quot;2&quot; /&gt;&#10;    &lt;circle cx=&quot;300&quot; cy=&quot;300&quot; r=&quot;200&quot; fill=&quot;none&quot; stroke=&quot;#fff&quot; strokeWidth=&quot;2&quot; /&gt;&#10;    &lt;circle cx=&quot;300&quot; cy=&quot;300&quot; r=&quot;120&quot; fill=&quot;none&quot; stroke=&quot;#fff&quot; strokeWidth=&quot;2&quot; /&gt;&#10;  &lt;/svg&gt;&#10;  {/* 章节序号 */}&#10;  &lt;Box style={{ marginBottom: 16 }}&gt;&#10;    &lt;Text style={{ fontSize: 20, color: '#C9A227', letterSpacing: 6 }}&gt;CHAPTER 01&lt;/Text&gt;&#10;  &lt;/Box&gt;&#10;  {/* 大字 */}&#10;  &lt;Text style={{ fontSize: 80, fontWeight: 'bold', color: '#FDF6EC', marginBottom: 16 }}&gt;&#10;    机会数&#10;  &lt;/Text&gt;&#10;  {/* 副标题 */}&#10;  &lt;Text style={{ fontSize: 28, color: '#F3D9B5', marginBottom: 24 }}&gt;&#10;    快速听牌的量化武器&#10;  &lt;/Text&gt;&#10;  {/* 引言 */}&#10;  &lt;Box style={{ maxWidth: 680, textAlign: 'center' }}&gt;&#10;    &lt;Text style={{ fontSize: 18, color: '#E8C98A', lineHeight: 1.8 }}&gt;&#10;      &quot;机会数理论的核心内容就是如何快速听牌&quot;&lt;br /&gt;&#10;      &lt;span style={{ fontSize: 14, opacity: 0.7 }}&gt;——《成都册》第一章 · 44 人划线&lt;/span&gt;&#10;    &lt;/Text&gt;&#10;  &lt;/Box&gt;&#10;  {/* 页脚 */}&#10;  &lt;Box style={{ position: 'absolute', bottom: 30, right: 60 }}&gt;&#10;    &lt;Text style={{ fontSize: 14, color: '#E8C98A', opacity: 0.5 }}&gt;0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1A1A"/>
              </a:gs>
              <a:gs pos="50000">
                <a:srgbClr val="5C0E0E"/>
              </a:gs>
              <a:gs pos="100000">
                <a:srgbClr val="8B1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219700" y="2095500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C9A227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953000" y="2476500"/>
            <a:ext cx="22860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0" b="1">
                <a:solidFill>
                  <a:srgbClr val="FDF6EC"/>
                </a:solidFill>
                <a:latin typeface="Microsoft YaHei"/>
                <a:ea typeface="Microsoft YaHei"/>
              </a:rPr>
              <a:t>机会数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895850" y="3543300"/>
            <a:ext cx="2400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F3D9B5"/>
                </a:solidFill>
                <a:latin typeface="Microsoft YaHei"/>
                <a:ea typeface="Microsoft YaHei"/>
              </a:rPr>
              <a:t>快速听牌的量化武器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495800" y="4095750"/>
            <a:ext cx="3209925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机会数理论的核心内容就是如何快速听牌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——《成都册》第一章</a:t>
            </a:r>
            <a:r>
              <a:rPr lang="en-US" sz="1050">
                <a:solidFill>
                  <a:srgbClr val="E8C98A"/>
                </a:solidFill>
                <a:latin typeface="Microsoft YaHei"/>
                <a:ea typeface="Microsoft YaHei"/>
              </a:rPr>
              <a:t> · 44 </a:t>
            </a: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人划线</a:t>
            </a:r>
            <a:endParaRPr/>
          </a:p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alphaModFix amt="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0" y="0"/>
            <a:ext cx="5715000" cy="5715000"/>
          </a:xfrm>
          <a:prstGeom prst="rect">
            <a:avLst/>
          </a:prstGeom>
          <a:ln/>
        </p:spPr>
      </p:pic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210925" y="6410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C98A">
                    <a:alpha val="50000"/>
                  </a:srgbClr>
                </a:solidFill>
                <a:latin typeface="Microsoft YaHei"/>
                <a:ea typeface="Microsoft YaHei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3" name="" descr="&lt;Slide style={{&#10;  width: '1280px', height: '720px',&#10;  background: '#FAF7F2', padding: '40px 60px 20px',&#10;  flexDirection: 'column',&#10;}}&gt;&#10;  {/* A 标题区 */}&#10;  &lt;Box style={{ marginBottom: 16 }}&gt;&#10;    &lt;Box style={{ flexDirection: 'row', alignItems: 'center', gap: 12, marginBottom: 4 }}&gt;&#10;      &lt;Box style={{ background: '#8B1A1A', borderRadius: 6, padding: '4px 10px' }}&gt;&#10;        &lt;Text style={{ fontSize: 12, fontWeight: 'bold', color: '#fff' }}&gt;核心概念&lt;/Text&gt;&#10;      &lt;/Box&gt;&#10;      &lt;Text style={{ fontSize: 14, color: '#6B6B6B' }}&gt;第一章 · 机会数&lt;/Text&gt;&#10;    &lt;/Box&gt;&#10;    &lt;Text style={{ fontSize: 36, fontWeight: 'bold', color: '#2B2B2B' }}&gt;&#10;      什么是&lt;span style={{ color: '#8B1A1A' }}&gt;&quot;下听&quot;&lt;/span&gt;？&#10;    &lt;/Text&gt;&#10;  &lt;/Box&gt;&#10;  {/* B 内容区 - 非对称双栏 60:40 */}&#10;  &lt;Box style={{ flexDirection: 'row', gap: 24, flex: 1, height: 500 }}&gt;&#10;    {/* 左侧 SVG 牌例演变图 60% */}&#10;    &lt;Box style={{ flex: 6, background: '#FFFEF8', borderRadius: 16, padding: 24, border: '1px solid #eee4d2', flexDirection: 'column', justifyContent: 'center', gap: 20 }}&gt;&#10;      {/* 状态1：还没听牌 */}&#10;      &lt;Box style={{ flexDirection: 'column', gap: 8 }}&gt;&#10;        &lt;Text style={{ fontSize: 16, fontWeight: 'bold', color: '#6B6B6B' }}&gt;① 还没听牌（还差好几张）&lt;/Text&gt;&#10;        &lt;svg width={580} height={70} viewBox=&quot;0 0 580 70&quot;&gt;&#10;          &lt;rect x=&quot;10&quot; y=&quot;8&quot; width=&quot;48&quot; height=&quot;56&quot; rx=&quot;6&quot; fill=&quot;#FFFEF8&quot; stroke=&quot;#D8CBB4&quot; strokeWidth=&quot;1.5&quot; /&gt;&#10;          &lt;text x=&quot;34&quot; y=&quot;36&quot; textAnchor=&quot;middle&quot; fontSize=&quot;20&quot; fontWeight=&quot;bold&quot; fill=&quot;#1A7F5C&quot;&gt;3&lt;/text&gt;&#10;          &lt;text x=&quot;34&quot; y=&quot;54&quot; textAnchor=&quot;middle&quot; fontSize=&quot;11&quot; fill=&quot;#1A7F5C&quot;&gt;万&lt;/text&gt;&#10;          &lt;rect x=&quot;62&quot; y=&quot;8&quot; width=&quot;48&quot; height=&quot;56&quot; rx=&quot;6&quot; fill=&quot;#FFFEF8&quot; stroke=&quot;#D8CBB4&quot; strokeWidth=&quot;1.5&quot; /&gt;&#10;          &lt;text x=&quot;86&quot; y=&quot;36&quot; textAnchor=&quot;middle&quot; fontSize=&quot;20&quot; fontWeight=&quot;bold&quot; fill=&quot;#1A7F5C&quot;&gt;4&lt;/text&gt;&#10;          &lt;text x=&quot;86&quot; y=&quot;54&quot; textAnchor=&quot;middle&quot; fontSize=&quot;11&quot; fill=&quot;#1A7F5C&quot;&gt;万&lt;/text&gt;&#10;          &lt;rect x=&quot;114&quot; y=&quot;8&quot; width=&quot;48&quot; height=&quot;56&quot; rx=&quot;6&quot; fill=&quot;#FFFEF8&quot; stroke=&quot;#D8CBB4&quot; strokeWidth=&quot;1.5&quot; /&gt;&#10;          &lt;text x=&quot;138&quot; y=&quot;36&quot; textAnchor=&quot;middle&quot; fontSize=&quot;20&quot; fontWeight=&quot;bold&quot; fill=&quot;#1A7F5C&quot;&gt;8&lt;/text&gt;&#10;          &lt;text x=&quot;138&quot; y=&quot;54&quot; textAnchor=&quot;middle&quot; fontSize=&quot;11&quot; fill=&quot;#1A7F5C&quot;&gt;万&lt;/text&gt;&#10;          &lt;rect x=&quot;166&quot; y=&quot;8&quot; width=&quot;48&quot; height=&quot;56&quot; rx=&quot;6&quot; fill=&quot;#FFFEF8&quot; stroke=&quot;#D8CBB4&quot; strokeWidth=&quot;1.5&quot; /&gt;&#10;          &lt;text x=&quot;190&quot; y=&quot;36&quot; textAnchor=&quot;middle&quot; fontSize=&quot;20&quot; fontWeight=&quot;bold&quot; fill=&quot;#1A7F5C&quot;&gt;2&lt;/text&gt;&#10;          &lt;text x=&quot;190&quot; y=&quot;54&quot; textAnchor=&quot;middle&quot; fontSize=&quot;11&quot; fill=&quot;#1A7F5C&quot;&gt;条&lt;/text&gt;&#10;          &lt;rect x=&quot;218&quot; y=&quot;8&quot; width=&quot;48&quot; height=&quot;56&quot; rx=&quot;6&quot; fill=&quot;#FFFEF8&quot; stroke=&quot;#D8CBB4&quot; strokeWidth=&quot;1.5&quot; /&gt;&#10;          &lt;text x=&quot;242&quot; y=&quot;36&quot; textAnchor=&quot;middle&quot; fontSize=&quot;20&quot; fontWeight=&quot;bold&quot; fill=&quot;#1A7F5C&quot;&gt;7&lt;/text&gt;&#10;          &lt;text x=&quot;242&quot; y=&quot;54&quot; textAnchor=&quot;middle&quot; fontSize=&quot;11&quot; fill=&quot;#1A7F5C&quot;&gt;条&lt;/text&gt;&#10;          &lt;rect x=&quot;270&quot; y=&quot;8&quot; width=&quot;48&quot; height=&quot;56&quot; rx=&quot;6&quot; fill=&quot;#FFFEF8&quot; stroke=&quot;#D8CBB4&quot; strokeWidth=&quot;1.5&quot; /&gt;&#10;          &lt;text x=&quot;294&quot; y=&quot;36&quot; textAnchor=&quot;middle&quot; fontSize=&quot;20&quot; fontWeight=&quot;bold&quot; fill=&quot;#1A7F5C&quot;&gt;9&lt;/text&gt;&#10;          &lt;text x=&quot;294&quot; y=&quot;54&quot; textAnchor=&quot;middle&quot; fontSize=&quot;11&quot; fill=&quot;#1A7F5C&quot;&gt;条&lt;/text&gt;&#10;          &lt;rect x=&quot;322&quot; y=&quot;8&quot; width=&quot;48&quot; height=&quot;56&quot; rx=&quot;6&quot; fill=&quot;#FFFEF8&quot; stroke=&quot;#D8CBB4&quot; strokeWidth=&quot;1.5&quot; /&gt;&#10;          &lt;text x=&quot;346&quot; y=&quot;36&quot; textAnchor=&quot;middle&quot; fontSize=&quot;20&quot; fontWeight=&quot;bold&quot; fill=&quot;#C0392B&quot;&gt;1&lt;/text&gt;&#10;          &lt;text x=&quot;346&quot; y=&quot;54&quot; textAnchor=&quot;middle&quot; fontSize=&quot;11&quot; fill=&quot;#C0392B&quot;&gt;筒&lt;/text&gt;&#10;          &lt;rect x=&quot;374&quot; y=&quot;8&quot; width=&quot;48&quot; height=&quot;56&quot; rx=&quot;6&quot; fill=&quot;#FFFEF8&quot; stroke=&quot;#D8CBB4&quot; strokeWidth=&quot;1.5&quot; /&gt;&#10;          &lt;text x=&quot;398&quot; y=&quot;36&quot; textAnchor=&quot;middle&quot; fontSize=&quot;20&quot; fontWeight=&quot;bold&quot; fill=&quot;#C0392B&quot;&gt;5&lt;/text&gt;&#10;          &lt;text x=&quot;398&quot; y=&quot;54&quot; textAnchor=&quot;middle&quot; fontSize=&quot;11&quot; fill=&quot;#C0392B&quot;&gt;筒&lt;/text&gt;&#10;          &lt;rect x=&quot;426&quot; y=&quot;8&quot; width=&quot;48&quot; height=&quot;56&quot; rx=&quot;6&quot; fill=&quot;#FFFEF8&quot; stroke=&quot;#D8CBB4&quot; strokeWidth=&quot;1.5&quot; /&gt;&#10;          &lt;text x=&quot;450&quot; y=&quot;36&quot; textAnchor=&quot;middle&quot; fontSize=&quot;20&quot; fontWeight=&quot;bold&quot; fill=&quot;#C0392B&quot;&gt;5&lt;/text&gt;&#10;          &lt;text x=&quot;450&quot; y=&quot;54&quot; textAnchor=&quot;middle&quot; fontSize=&quot;11&quot; fill=&quot;#C0392B&quot;&gt;筒&lt;/text&gt;&#10;          &lt;rect x=&quot;478&quot; y=&quot;8&quot; width=&quot;48&quot; height=&quot;56&quot; rx=&quot;6&quot; fill=&quot;#FFFEF8&quot; stroke=&quot;#D8CBB4&quot; strokeWidth=&quot;1.5&quot; /&gt;&#10;          &lt;text x=&quot;502&quot; y=&quot;36&quot; textAnchor=&quot;middle&quot; fontSize=&quot;20&quot; fontWeight=&quot;bold&quot; fill=&quot;#C0392B&quot;&gt;8&lt;/text&gt;&#10;          &lt;text x=&quot;502&quot; y=&quot;54&quot; textAnchor=&quot;middle&quot; fontSize=&quot;11&quot; fill=&quot;#C0392B&quot;&gt;筒&lt;/text&gt;&#10;          &lt;rect x=&quot;530&quot; y=&quot;8&quot; width=&quot;48&quot; height=&quot;56&quot; rx=&quot;6&quot; fill=&quot;#FFFEF8&quot; stroke=&quot;#D8CBB4&quot; strokeWidth=&quot;1.5&quot; /&gt;&#10;          &lt;text x=&quot;554&quot; y=&quot;36&quot; textAnchor=&quot;middle&quot; fontSize=&quot;20&quot; fontWeight=&quot;bold&quot; fill=&quot;#C0392B&quot;&gt;9&lt;/text&gt;&#10;          &lt;text x=&quot;554&quot; y=&quot;54&quot; textAnchor=&quot;middle&quot; fontSize=&quot;11&quot; fill=&quot;#C0392B&quot;&gt;筒&lt;/text&gt;&#10;        &lt;/svg&gt;&#10;        &lt;Text style={{ fontSize: 13, color: '#8a7a5f' }}&gt;13张散牌，还差好几张才能成&quot;4组+1对&quot;的结构&lt;/Text&gt;&#10;      &lt;/Box&gt;&#10;      {/* 箭头 */}&#10;      &lt;Box style={{ flexDirection: 'row', alignItems: 'center', gap: 16, justifyContent: 'center' }}&gt;&#10;        &lt;Box style={{ background: '#8B1A1A', borderRadius: 8, padding: '8px 16px' }}&gt;&#10;          &lt;Text style={{ fontSize: 16, fontWeight: 'bold', color: '#fff' }}&gt;进一张有用的牌 →&lt;/Text&gt;&#10;        &lt;/Box&gt;&#10;        &lt;Text style={{ fontSize: 14, color: '#C9A227', fontWeight: 'bold' }}&gt;比如进 3万 → 凑成 345万顺子&lt;/Text&gt;&#10;      &lt;/Box&gt;&#10;      {/* 状态2：听牌了 */}&#10;      &lt;Box style={{ flexDirection: 'column', gap: 8 }}&gt;&#10;        &lt;Text style={{ fontSize: 16, fontWeight: 'bold', color: '#1A7F5C' }}&gt;② 听牌了！（只差一张就胡）&lt;/Text&gt;&#10;        &lt;svg width={580} height={70} viewBox=&quot;0 0 580 70&quot;&gt;&#10;          {/* 345万 - 顺子1 */}&#10;          &lt;rect x=&quot;10&quot; y=&quot;8&quot; width=&quot;48&quot; height=&quot;56&quot; rx=&quot;6&quot; fill=&quot;#F0FBF5&quot; stroke=&quot;#1A7F5C&quot; strokeWidth=&quot;1.5&quot; /&gt;&#10;          &lt;text x=&quot;34&quot; y=&quot;36&quot; textAnchor=&quot;middle&quot; fontSize=&quot;20&quot; fontWeight=&quot;bold&quot; fill=&quot;#1A7F5C&quot;&gt;3&lt;/text&gt;&#10;          &lt;text x=&quot;34&quot; y=&quot;54&quot; textAnchor=&quot;middle&quot; fontSize=&quot;11&quot; fill=&quot;#1A7F5C&quot;&gt;万&lt;/text&gt;&#10;          &lt;rect x=&quot;62&quot; y=&quot;8&quot; width=&quot;48&quot; height=&quot;56&quot; rx=&quot;6&quot; fill=&quot;#F0FBF5&quot; stroke=&quot;#1A7F5C&quot; strokeWidth=&quot;1.5&quot; /&gt;&#10;          &lt;text x=&quot;86&quot; y=&quot;36&quot; textAnchor=&quot;middle&quot; fontSize=&quot;20&quot; fontWeight=&quot;bold&quot; fill=&quot;#1A7F5C&quot;&gt;4&lt;/text&gt;&#10;          &lt;text x=&quot;86&quot; y=&quot;54&quot; textAnchor=&quot;middle&quot; fontSize=&quot;11&quot; fill=&quot;#1A7F5C&quot;&gt;万&lt;/text&gt;&#10;          &lt;rect x=&quot;114&quot; y=&quot;8&quot; width=&quot;48&quot; height=&quot;56&quot; rx=&quot;6&quot; fill=&quot;#F0FBF5&quot; stroke=&quot;#1A7F5C&quot; strokeWidth=&quot;1.5&quot; /&gt;&#10;          &lt;text x=&quot;138&quot; y=&quot;36&quot; textAnchor=&quot;middle&quot; fontSize=&quot;20&quot; fontWeight=&quot;bold&quot; fill=&quot;#1A7F5C&quot;&gt;5&lt;/text&gt;&#10;          &lt;text x=&quot;138&quot; y=&quot;54&quot; textAnchor=&quot;middle&quot; fontSize=&quot;11&quot; fill=&quot;#1A7F5C&quot;&gt;万&lt;/text&gt;&#10;          {/* 8万 - 顺子2 */}&#10;          &lt;rect x=&quot;170&quot; y=&quot;8&quot; width=&quot;48&quot; height=&quot;56&quot; rx=&quot;6&quot; fill=&quot;#F0FBF5&quot; stroke=&quot;#1A7F5C&quot; strokeWidth=&quot;1.5&quot; /&gt;&#10;          &lt;text x=&quot;194&quot; y=&quot;36&quot; textAnchor=&quot;middle&quot; fontSize=&quot;20&quot; fontWeight=&quot;bold&quot; fill=&quot;#1A7F5C&quot;&gt;8&lt;/text&gt;&#10;          &lt;text x=&quot;194&quot; y=&quot;54&quot; textAnchor=&quot;middle&quot; fontSize=&quot;11&quot; fill=&quot;#1A7F5C&quot;&gt;万&lt;/text&gt;&#10;          {/* 279条 - 顺子3 */}&#10;          &lt;rect x=&quot;230&quot; y=&quot;8&quot; width=&quot;48&quot; height=&quot;56&quot; rx=&quot;6&quot; fill=&quot;#F0FBF5&quot; stroke=&quot;#1A7F5C&quot; strokeWidth=&quot;1.5&quot; /&gt;&#10;          &lt;text x=&quot;254&quot; y=&quot;36&quot; textAnchor=&quot;middle&quot; fontSize=&quot;20&quot; fontWeight=&quot;bold&quot; fill=&quot;#1A7F5C&quot;&gt;2&lt;/text&gt;&#10;          &lt;text x=&quot;254&quot; y=&quot;54&quot; textAnchor=&quot;middle&quot; fontSize=&quot;11&quot; fill=&quot;#1A7F5C&quot;&gt;条&lt;/text&gt;&#10;          &lt;rect x=&quot;282&quot; y=&quot;8&quot; width=&quot;48&quot; height=&quot;56&quot; rx=&quot;6&quot; fill=&quot;#F0FBF5&quot; stroke=&quot;#1A7F5C&quot; strokeWidth=&quot;1.5&quot; /&gt;&#10;          &lt;text x=&quot;306&quot; y=&quot;36&quot; textAnchor=&quot;middle&quot; fontSize=&quot;20&quot; fontWeight=&quot;bold&quot; fill=&quot;#1A7F5C&quot;&gt;7&lt;/text&gt;&#10;          &lt;text x=&quot;306&quot; y=&quot;54&quot; textAnchor=&quot;middle&quot; fontSize=&quot;11&quot; fill=&quot;#1A7F5C&quot;&gt;条&lt;/text&gt;&#10;          &lt;rect x=&quot;334&quot; y=&quot;8&quot; width=&quot;48&quot; height=&quot;56&quot; rx=&quot;6&quot; fill=&quot;#F0FBF5&quot; stroke=&quot;#1A7F5C&quot; strokeWidth=&quot;1.5&quot; /&gt;&#10;          &lt;text x=&quot;358&quot; y=&quot;36&quot; textAnchor=&quot;middle&quot; fontSize=&quot;20&quot; fontWeight=&quot;bold&quot; fill=&quot;#1A7F5C&quot;&gt;9&lt;/text&gt;&#10;          &lt;text x=&quot;358&quot; y=&quot;54&quot; textAnchor=&quot;middle&quot; fontSize=&quot;11&quot; fill=&quot;#1A7F5C&quot;&gt;条&lt;/text&gt;&#10;          {/* 55筒 - 将（对子） */}&#10;          &lt;rect x=&quot;394&quot; y=&quot;8&quot; width=&quot;48&quot; height=&quot;56&quot; rx=&quot;6&quot; fill=&quot;#F0FBF5&quot; stroke=&quot;#1A7F5C&quot; strokeWidth=&quot;1.5&quot; /&gt;&#10;          &lt;text x=&quot;418&quot; y=&quot;36&quot; textAnchor=&quot;middle&quot; fontSize=&quot;20&quot; fontWeight=&quot;bold&quot; fill=&quot;#C0392B&quot;&gt;5&lt;/text&gt;&#10;          &lt;text x=&quot;418&quot; y=&quot;54&quot; textAnchor=&quot;middle&quot; fontSize=&quot;11&quot; fill=&quot;#C0392B&quot;&gt;筒&lt;/text&gt;&#10;          &lt;rect x=&quot;446&quot; y=&quot;8&quot; width=&quot;48&quot; height=&quot;56&quot; rx=&quot;6&quot; fill=&quot;#F0FBF5&quot; stroke=&quot;#1A7F5C&quot; strokeWidth=&quot;1.5&quot; /&gt;&#10;          &lt;text x=&quot;470&quot; y=&quot;36&quot; textAnchor=&quot;middle&quot; fontSize=&quot;20&quot; fontWeight=&quot;bold&quot; fill=&quot;#C0392B&quot;&gt;5&lt;/text&gt;&#10;          &lt;text x=&quot;470&quot; y=&quot;54&quot; textAnchor=&quot;middle&quot; fontSize=&quot;11&quot; fill=&quot;#C0392B&quot;&gt;筒&lt;/text&gt;&#10;          {/* 听牌位 - 8筒9筒搭子 */}&#10;          &lt;rect x=&quot;506&quot; y=&quot;8&quot; width=&quot;48&quot; height=&quot;56&quot; rx=&quot;6&quot; fill=&quot;#FFF5F0&quot; stroke=&quot;#8B1A1A&quot; strokeWidth=&quot;2.5&quot; /&gt;&#10;          &lt;text x=&quot;530&quot; y=&quot;36&quot; textAnchor=&quot;middle&quot; fontSize=&quot;20&quot; fontWeight=&quot;bold&quot; fill=&quot;#C0392B&quot;&gt;8&lt;/text&gt;&#10;          &lt;text x=&quot;530&quot; y=&quot;54&quot; textAnchor=&quot;middle&quot; fontSize=&quot;11&quot; fill=&quot;#C0392B&quot;&gt;筒&lt;/text&gt;&#10;          &lt;rect x=&quot;558&quot; y=&quot;8&quot; width=&quot;48&quot; height=&quot;56&quot; rx=&quot;6&quot; fill=&quot;#FFF5F0&quot; stroke=&quot;#8B1A1A&quot; strokeWidth=&quot;2.5&quot; /&gt;&#10;          &lt;text x=&quot;582&quot; y=&quot;36&quot; textAnchor=&quot;middle&quot; fontSize=&quot;20&quot; fontWeight=&quot;bold&quot; fill=&quot;#C0392B&quot;&gt;9&lt;/text&gt;&#10;          &lt;text x=&quot;582&quot; y=&quot;54&quot; textAnchor=&quot;middle&quot; fontSize=&quot;11&quot; fill=&quot;#C0392B&quot;&gt;筒&lt;/text&gt;&#10;        &lt;/svg&gt;&#10;        &lt;Box style={{ flexDirection: 'row', gap: 8 }}&gt;&#10;          &lt;Text style={{ fontSize: 13, color: '#8a7a5f' }}&gt;3组顺子 + 55筒将 + 89筒搭子 →&lt;/Text&gt;&#10;          &lt;Text style={{ fontSize: 13, fontWeight: 'bold', color: '#8B1A1A' }}&gt;听 7筒！这就是&quot;听牌&quot;&lt;/Text&gt;&#10;        &lt;/Box&gt;&#10;      &lt;/Box&gt;&#10;    &lt;/Box&gt;&#10;    {/* 右侧文字解释 40% */}&#10;    &lt;Box style={{ flex: 4, flexDirection: 'column', gap: 16, justifyContent: 'center' }}&gt;&#10;      &lt;Box style={{ background: '#F5EDE0', borderRadius: 12, padding: 20, borderLeft: '4px solid #8B1A1A' }}&gt;&#10;        &lt;Text style={{ fontSize: 20, fontWeight: 'bold', color: '#8B1A1A', marginBottom: 8 }}&gt;三个术语一次说清&lt;/Text&gt;&#10;        &lt;Text style={{ fontSize: 16, color: '#4a4038', lineHeight: 1.8 }}&gt;&#10;          &lt;span style={{ fontWeight: 'bold', color: '#2B2B2B' }}&gt;听牌&lt;/span&gt; = 手牌只差一张就能胡了&lt;br /&gt;&#10;          &lt;span style={{ fontWeight: 'bold', color: '#2B2B2B' }}&gt;下听&lt;/span&gt; = 从&quot;还差好几张&quot;变成&quot;只差一张&quot;的过程&lt;br /&gt;&#10;          &lt;span style={{ fontWeight: 'bold', color: '#8B1A1A' }}&gt;机会数&lt;/span&gt; = 能让你&quot;下听&quot;的那些牌的剩余总张数&#10;        &lt;/Text&gt;&#10;      &lt;/Box&gt;&#10;      &lt;Box style={{ background: '#FFFEF8', borderRadius: 12, padding: 20, border: '1px solid #eee4d2' }}&gt;&#10;        &lt;Text style={{ fontSize: 16, fontWeight: 'bold', color: '#1A7F5C', marginBottom: 6 }}&gt;💡 类比理解&lt;/Text&gt;&#10;        &lt;Text style={{ fontSize: 15, color: '#4a4038', lineHeight: 1.7 }}&gt;&#10;          想象赛跑：从&quot;还剩 200 米&quot;到&quot;最后冲刺线&quot;——&lt;span style={{ fontWeight: 'bold' }}&gt;下听&lt;/span&gt;就是冲过那个&quot;最后冲刺线&quot;的瞬间。&lt;br /&gt;&lt;br /&gt;&#10;          &lt;span style={{ fontWeight: 'bold', color: '#8B1A1A' }}&gt;机会数&lt;/span&gt; 就是在终点线前数：有多少条赛道还通着、每条道上还有几个对手在跑——数字越大，你&quot;逮到一张就冲线&quot;的概率越高。&#10;        &lt;/Text&gt;&#10;      &lt;/Box&gt;&#10;      &lt;Box style={{ background: 'rgba(201,162,39,0.08)', borderRadius: 8, padding: 14, border: '1px solid #e8d8a8' }}&gt;&#10;        &lt;Text style={{ fontSize: 14, color: '#6b5636', lineHeight: 1.6, fontStyle: 'italic' }}&gt;&#10;          &quot;机会数就是能够让一副牌'下听'的那些数字牌&quot;&lt;br /&gt;&#10;          &lt;span style={{ fontSize: 12, opacity: 0.7 }}&gt;——《理论册》第 2 节 · 99 人划线&lt;/span&gt;&#10;        &lt;/Text&gt;&#10;      &lt;/Box&gt;&#10;    &lt;/Box&gt;&#10;  &lt;/Box&gt;&#10;  {/* C 页脚 */}&#10;  &lt;Box style={{ height: 40, flexDirection: 'row', justifyContent: 'flex-end', alignItems: 'center', marginTop: 12 }}&gt;&#10;    &lt;Text style={{ fontSize: 14, color: '#a0a0a0' }}&gt;0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571500" y="3810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核心概念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333500" y="409575"/>
            <a:ext cx="92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第一章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机会数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什么是</a:t>
            </a:r>
            <a:r>
              <a:rPr lang="en-US" sz="2700" b="1">
                <a:solidFill>
                  <a:srgbClr val="8B1A1A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8B1A1A"/>
                </a:solidFill>
                <a:latin typeface="Microsoft YaHei"/>
                <a:ea typeface="Microsoft YaHei"/>
              </a:rPr>
              <a:t>下听</a:t>
            </a:r>
            <a:r>
              <a:rPr lang="en-US" sz="2700" b="1">
                <a:solidFill>
                  <a:srgbClr val="8B1A1A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71500" y="1209675"/>
            <a:ext cx="6496050" cy="4762500"/>
          </a:xfrm>
          <a:prstGeom prst="roundRect">
            <a:avLst>
              <a:gd name="adj" fmla="val 3200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00100" y="2066925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B6B6B"/>
                </a:solidFill>
                <a:latin typeface="Microsoft YaHei"/>
                <a:ea typeface="Microsoft YaHei"/>
              </a:rPr>
              <a:t>① </a:t>
            </a:r>
            <a:r>
              <a:rPr lang="zh-CN" sz="1200" b="1">
                <a:solidFill>
                  <a:srgbClr val="6B6B6B"/>
                </a:solidFill>
                <a:latin typeface="Microsoft YaHei"/>
                <a:ea typeface="Microsoft YaHei"/>
              </a:rPr>
              <a:t>还没听牌（还差好几张）</a:t>
            </a:r>
            <a:endParaRPr/>
          </a:p>
        </p:txBody>
      </p:sp>
      <p:pic>
        <p:nvPicPr>
          <p:cNvPr id="2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2333625"/>
            <a:ext cx="5524500" cy="666750"/>
          </a:xfrm>
          <a:prstGeom prst="rect">
            <a:avLst/>
          </a:prstGeom>
          <a:ln/>
        </p:spPr>
      </p:pic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00100" y="3076575"/>
            <a:ext cx="603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13</a:t>
            </a:r>
            <a:r>
              <a:rPr lang="zh-CN" sz="975">
                <a:solidFill>
                  <a:srgbClr val="8A7A5F"/>
                </a:solidFill>
                <a:latin typeface="Microsoft YaHei"/>
                <a:ea typeface="Microsoft YaHei"/>
              </a:rPr>
              <a:t>张散牌，还差好几张才能成</a:t>
            </a: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"4</a:t>
            </a:r>
            <a:r>
              <a:rPr lang="zh-CN" sz="975">
                <a:solidFill>
                  <a:srgbClr val="8A7A5F"/>
                </a:solidFill>
                <a:latin typeface="Microsoft YaHei"/>
                <a:ea typeface="Microsoft YaHei"/>
              </a:rPr>
              <a:t>组</a:t>
            </a: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+1</a:t>
            </a:r>
            <a:r>
              <a:rPr lang="zh-CN" sz="975">
                <a:solidFill>
                  <a:srgbClr val="8A7A5F"/>
                </a:solidFill>
                <a:latin typeface="Microsoft YaHei"/>
                <a:ea typeface="Microsoft YaHei"/>
              </a:rPr>
              <a:t>对</a:t>
            </a: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8A7A5F"/>
                </a:solidFill>
                <a:latin typeface="Microsoft YaHei"/>
                <a:ea typeface="Microsoft YaHei"/>
              </a:rPr>
              <a:t>的结构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2066925" y="341947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2219325" y="3495675"/>
            <a:ext cx="1266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进一张有用的牌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→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790950" y="3514725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9A227"/>
                </a:solidFill>
                <a:latin typeface="Microsoft YaHei"/>
                <a:ea typeface="Microsoft YaHei"/>
              </a:rPr>
              <a:t>比如进</a:t>
            </a:r>
            <a:r>
              <a:rPr lang="en-US" sz="1050" b="1">
                <a:solidFill>
                  <a:srgbClr val="C9A227"/>
                </a:solidFill>
                <a:latin typeface="Microsoft YaHei"/>
                <a:ea typeface="Microsoft YaHei"/>
              </a:rPr>
              <a:t> 3</a:t>
            </a:r>
            <a:r>
              <a:rPr lang="zh-CN" sz="1050" b="1">
                <a:solidFill>
                  <a:srgbClr val="C9A227"/>
                </a:solidFill>
                <a:latin typeface="Microsoft YaHei"/>
                <a:ea typeface="Microsoft YaHei"/>
              </a:rPr>
              <a:t>万</a:t>
            </a:r>
            <a:r>
              <a:rPr lang="en-US" sz="1050" b="1">
                <a:solidFill>
                  <a:srgbClr val="C9A227"/>
                </a:solidFill>
                <a:latin typeface="Microsoft YaHei"/>
                <a:ea typeface="Microsoft YaHei"/>
              </a:rPr>
              <a:t> → </a:t>
            </a:r>
            <a:r>
              <a:rPr lang="zh-CN" sz="1050" b="1">
                <a:solidFill>
                  <a:srgbClr val="C9A227"/>
                </a:solidFill>
                <a:latin typeface="Microsoft YaHei"/>
                <a:ea typeface="Microsoft YaHei"/>
              </a:rPr>
              <a:t>凑成</a:t>
            </a:r>
            <a:r>
              <a:rPr lang="en-US" sz="1050" b="1">
                <a:solidFill>
                  <a:srgbClr val="C9A227"/>
                </a:solidFill>
                <a:latin typeface="Microsoft YaHei"/>
                <a:ea typeface="Microsoft YaHei"/>
              </a:rPr>
              <a:t> 345</a:t>
            </a:r>
            <a:r>
              <a:rPr lang="zh-CN" sz="1050" b="1">
                <a:solidFill>
                  <a:srgbClr val="C9A227"/>
                </a:solidFill>
                <a:latin typeface="Microsoft YaHei"/>
                <a:ea typeface="Microsoft YaHei"/>
              </a:rPr>
              <a:t>万顺子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00100" y="3952875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7F5C"/>
                </a:solidFill>
                <a:latin typeface="Microsoft YaHei"/>
                <a:ea typeface="Microsoft YaHei"/>
              </a:rPr>
              <a:t>② </a:t>
            </a:r>
            <a:r>
              <a:rPr lang="zh-CN" sz="1200" b="1">
                <a:solidFill>
                  <a:srgbClr val="1A7F5C"/>
                </a:solidFill>
                <a:latin typeface="Microsoft YaHei"/>
                <a:ea typeface="Microsoft YaHei"/>
              </a:rPr>
              <a:t>听牌了！（只差一张就胡）</a:t>
            </a:r>
            <a:endParaRPr/>
          </a:p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4219575"/>
            <a:ext cx="5524500" cy="66675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00100" y="4962525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3</a:t>
            </a:r>
            <a:r>
              <a:rPr lang="zh-CN" sz="975">
                <a:solidFill>
                  <a:srgbClr val="8A7A5F"/>
                </a:solidFill>
                <a:latin typeface="Microsoft YaHei"/>
                <a:ea typeface="Microsoft YaHei"/>
              </a:rPr>
              <a:t>组顺子</a:t>
            </a: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 + 55</a:t>
            </a:r>
            <a:r>
              <a:rPr lang="zh-CN" sz="975">
                <a:solidFill>
                  <a:srgbClr val="8A7A5F"/>
                </a:solidFill>
                <a:latin typeface="Microsoft YaHei"/>
                <a:ea typeface="Microsoft YaHei"/>
              </a:rPr>
              <a:t>筒将</a:t>
            </a: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 + 89</a:t>
            </a:r>
            <a:r>
              <a:rPr lang="zh-CN" sz="975">
                <a:solidFill>
                  <a:srgbClr val="8A7A5F"/>
                </a:solidFill>
                <a:latin typeface="Microsoft YaHei"/>
                <a:ea typeface="Microsoft YaHei"/>
              </a:rPr>
              <a:t>筒搭子</a:t>
            </a:r>
            <a:r>
              <a:rPr lang="en-US" sz="975">
                <a:solidFill>
                  <a:srgbClr val="8A7A5F"/>
                </a:solidFill>
                <a:latin typeface="Microsoft YaHei"/>
                <a:ea typeface="Microsoft YaHei"/>
              </a:rPr>
              <a:t> →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2657475" y="49625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B1A1A"/>
                </a:solidFill>
                <a:latin typeface="Microsoft YaHei"/>
                <a:ea typeface="Microsoft YaHei"/>
              </a:rPr>
              <a:t>听</a:t>
            </a:r>
            <a:r>
              <a:rPr lang="en-US" sz="975" b="1">
                <a:solidFill>
                  <a:srgbClr val="8B1A1A"/>
                </a:solidFill>
                <a:latin typeface="Microsoft YaHei"/>
                <a:ea typeface="Microsoft YaHei"/>
              </a:rPr>
              <a:t> 7</a:t>
            </a:r>
            <a:r>
              <a:rPr lang="zh-CN" sz="975" b="1">
                <a:solidFill>
                  <a:srgbClr val="8B1A1A"/>
                </a:solidFill>
                <a:latin typeface="Microsoft YaHei"/>
                <a:ea typeface="Microsoft YaHei"/>
              </a:rPr>
              <a:t>筒！这就是</a:t>
            </a:r>
            <a:r>
              <a:rPr lang="en-US" sz="975" b="1">
                <a:solidFill>
                  <a:srgbClr val="8B1A1A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8B1A1A"/>
                </a:solidFill>
                <a:latin typeface="Microsoft YaHei"/>
                <a:ea typeface="Microsoft YaHei"/>
              </a:rPr>
              <a:t>听牌</a:t>
            </a:r>
            <a:r>
              <a:rPr lang="en-US" sz="975" b="1">
                <a:solidFill>
                  <a:srgbClr val="8B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7334250" y="1209675"/>
            <a:ext cx="4324350" cy="1676400"/>
          </a:xfrm>
          <a:prstGeom prst="roundRect">
            <a:avLst>
              <a:gd name="adj" fmla="val 6818"/>
            </a:avLst>
          </a:prstGeom>
          <a:solidFill>
            <a:srgbClr val="F5EDE0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7334250" y="1209675"/>
            <a:ext cx="4324350" cy="1676400"/>
          </a:xfrm>
          <a:custGeom>
            <a:pathLst>
              <a:path w="454" h="17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68"/>
                </a:lnTo>
                <a:cubicBezTo>
                  <a:pt x="4" y="172"/>
                  <a:pt x="7" y="175"/>
                  <a:pt x="10" y="176"/>
                </a:cubicBezTo>
                <a:cubicBezTo>
                  <a:pt x="4" y="175"/>
                  <a:pt x="0" y="170"/>
                  <a:pt x="0" y="16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1A1A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524750" y="1400175"/>
            <a:ext cx="390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B1A1A"/>
                </a:solidFill>
                <a:latin typeface="Microsoft YaHei"/>
                <a:ea typeface="Microsoft YaHei"/>
              </a:rPr>
              <a:t>三个术语一次说清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524750" y="1704975"/>
            <a:ext cx="3905250" cy="9906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2B2B2B"/>
                </a:solidFill>
                <a:latin typeface="Microsoft YaHei"/>
                <a:ea typeface="Microsoft YaHei"/>
              </a:rPr>
              <a:t>听牌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手牌只差一张就能胡了</a:t>
            </a:r>
            <a:endParaRPr/>
          </a:p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2B2B2B"/>
                </a:solidFill>
                <a:latin typeface="Microsoft YaHei"/>
                <a:ea typeface="Microsoft YaHei"/>
              </a:rPr>
              <a:t>下听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从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还差好几张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变成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只差一张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的过程</a:t>
            </a:r>
            <a:endParaRPr/>
          </a:p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机会数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能让你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下听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的那些牌的剩余总张数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7296150" y="3038475"/>
            <a:ext cx="4324350" cy="2381250"/>
          </a:xfrm>
          <a:prstGeom prst="roundRect">
            <a:avLst>
              <a:gd name="adj" fmla="val 4800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486650" y="3228975"/>
            <a:ext cx="3943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7F5C"/>
                </a:solidFill>
                <a:latin typeface="Microsoft YaHei"/>
                <a:ea typeface="Microsoft YaHei"/>
              </a:rPr>
              <a:t>💡 </a:t>
            </a:r>
            <a:r>
              <a:rPr lang="zh-CN" sz="1200" b="1">
                <a:solidFill>
                  <a:srgbClr val="1A7F5C"/>
                </a:solidFill>
                <a:latin typeface="Microsoft YaHei"/>
                <a:ea typeface="Microsoft YaHei"/>
              </a:rPr>
              <a:t>类比理解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486650" y="3476625"/>
            <a:ext cx="394335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想象赛跑：从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还剩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200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米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到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最后冲刺线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"——</a:t>
            </a:r>
            <a:r>
              <a:rPr lang="zh-CN" sz="1125" b="1">
                <a:solidFill>
                  <a:srgbClr val="4A4038"/>
                </a:solidFill>
                <a:latin typeface="Microsoft YaHei"/>
                <a:ea typeface="Microsoft YaHei"/>
              </a:rPr>
              <a:t>下听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就是冲过那个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最后冲刺线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的瞬间。</a:t>
            </a:r>
            <a:endParaRPr/>
          </a:p>
          <a:p>
            <a:pPr>
              <a:lnSpc>
                <a:spcPct val="170000"/>
              </a:lnSpc>
            </a:pPr>
            <a:r>
              <a:rPr sz="1125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8B1A1A"/>
                </a:solidFill>
                <a:latin typeface="Microsoft YaHei"/>
                <a:ea typeface="Microsoft YaHei"/>
              </a:rPr>
              <a:t>机会数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就是在终点线前数：有多少条赛道还通着、每条道上还有几个对手在跑——数字越大，你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逮到一张就冲线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的概率越高。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296150" y="5572125"/>
            <a:ext cx="4324350" cy="742950"/>
          </a:xfrm>
          <a:prstGeom prst="roundRect">
            <a:avLst>
              <a:gd name="adj" fmla="val 10256"/>
            </a:avLst>
          </a:prstGeom>
          <a:solidFill>
            <a:srgbClr val="C9A227">
              <a:alpha val="8000"/>
            </a:srgbClr>
          </a:solidFill>
          <a:ln w="12700">
            <a:solidFill>
              <a:srgbClr val="E8D8A8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429500" y="5705475"/>
            <a:ext cx="405765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"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机会数就是能够让一副牌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'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下听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'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的那些数字牌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60000"/>
              </a:lnSpc>
            </a:pP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——《理论册》第</a:t>
            </a:r>
            <a:r>
              <a:rPr lang="en-US" sz="900" i="1">
                <a:solidFill>
                  <a:srgbClr val="6B5636"/>
                </a:solidFill>
                <a:latin typeface="Microsoft YaHei"/>
                <a:ea typeface="Microsoft YaHei"/>
              </a:rPr>
              <a:t> 2 </a:t>
            </a: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节</a:t>
            </a:r>
            <a:r>
              <a:rPr lang="en-US" sz="900" i="1">
                <a:solidFill>
                  <a:srgbClr val="6B5636"/>
                </a:solidFill>
                <a:latin typeface="Microsoft YaHei"/>
                <a:ea typeface="Microsoft YaHei"/>
              </a:rPr>
              <a:t> · 99 </a:t>
            </a: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人划线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0" name="" descr="&lt;Slide style={{&#10;  width: '1280px', height: '720px',&#10;  background: '#FAF7F2', padding: '40px 60px 20px',&#10;  flexDirection: 'column',&#10;}}&gt;&#10;  {/* A 标题区 */}&#10;  &lt;Box style={{ marginBottom: 12 }}&gt;&#10;    &lt;Box style={{ flexDirection: 'row', alignItems: 'center', gap: 12, marginBottom: 4 }}&gt;&#10;      &lt;Box style={{ background: '#8B1A1A', borderRadius: 6, padding: '4px 10px' }}&gt;&#10;        &lt;Text style={{ fontSize: 12, fontWeight: 'bold', color: '#fff' }}&gt;核心公式&lt;/Text&gt;&#10;      &lt;/Box&gt;&#10;      &lt;Text style={{ fontSize: 14, color: '#6B6B6B' }}&gt;第一章 · 机会数&lt;/Text&gt;&#10;    &lt;/Box&gt;&#10;    &lt;Text style={{ fontSize: 36, fontWeight: 'bold', color: '#2B2B2B' }}&gt;&#10;      机会数&lt;span style={{ color: '#8B1A1A' }}&gt;怎么算&lt;/span&gt;？&#10;    &lt;/Text&gt;&#10;  &lt;/Box&gt;&#10;  {/* B 内容区 */}&#10;  &lt;Box style={{ flexDirection: 'row', gap: 24, flex: 1, height: 500 }}&gt;&#10;    {/* 左侧：巨型公式 + 拆解 60% */}&#10;    &lt;Box style={{ flex: 6, flexDirection: 'column', justifyContent: 'center', gap: 20 }}&gt;&#10;      {/* 巨型公式 */}&#10;      &lt;Box style={{ background: 'linear-gradient(135deg, #8B1A1A 0%, #6B1010 100%)', borderRadius: 20, padding: '32px 40px', flexDirection: 'row', justifyContent: 'center', alignItems: 'center', gap: 16 }}&gt;&#10;        &lt;Text style={{ fontSize: 80, fontWeight: 'bold', color: '#C9A227' }}&gt;10&lt;/Text&gt;&#10;        &lt;Text style={{ fontSize: 56, color: '#F3D9B5' }}&gt;×&lt;/Text&gt;&#10;        &lt;Text style={{ fontSize: 80, fontWeight: 'bold', color: '#C9A227' }}&gt;4&lt;/Text&gt;&#10;        &lt;Text style={{ fontSize: 56, color: '#F3D9B5' }}&gt;−&lt;/Text&gt;&#10;        &lt;Text style={{ fontSize: 80, fontWeight: 'bold', color: '#FDF6EC' }}&gt;4&lt;/Text&gt;&#10;        &lt;Text style={{ fontSize: 56, color: '#F3D9B5' }}&gt;=&lt;/Text&gt;&#10;        &lt;Text style={{ fontSize: 96, fontWeight: 'bold', color: '#C9A227' }}&gt;36&lt;/Text&gt;&#10;      &lt;/Box&gt;&#10;      {/* 三步拆解 */}&#10;      &lt;Box style={{ flexDirection: 'row', gap: 12 }}&gt;&#10;        &lt;Box style={{ flex: 1, background: '#FFFEF8', borderRadius: 12, padding: 16, border: '1px solid #eee4d2', flexDirection: 'column', gap: 6 }}&gt;&#10;          &lt;Text style={{ fontSize: 14, color: '#8B1A1A', fontWeight: 'bold' }}&gt;① 进张种类&lt;/Text&gt;&#10;          &lt;Text style={{ fontSize: 32, fontWeight: 'bold', color: '#8B1A1A' }}&gt;10&lt;/Text&gt;&#10;          &lt;Text style={{ fontSize: 13, color: '#4a4038', lineHeight: 1.5 }}&gt;&#10;            &lt;span style={{ fontWeight: 'bold' }}&gt;10 种&lt;/span&gt;不同的牌能让你更接近听牌——比如 3万、5筒、7条…&#10;          &lt;/Text&gt;&#10;        &lt;/Box&gt;&#10;        &lt;Box style={{ flex: 1, background: '#FFFEF8', borderRadius: 12, padding: 16, border: '1px solid #eee4d2', flexDirection: 'column', gap: 6 }}&gt;&#10;          &lt;Text style={{ fontSize: 14, color: '#1A7F5C', fontWeight: 'bold' }}&gt;② 每种最多 4 张&lt;/Text&gt;&#10;          &lt;Text style={{ fontSize: 32, fontWeight: 'bold', color: '#1A7F5C' }}&gt;× 4&lt;/Text&gt;&#10;          &lt;Text style={{ fontSize: 13, color: '#4a4038', lineHeight: 1.5 }}&gt;&#10;            血战用 108 张牌，&lt;span style={{ fontWeight: 'bold' }}&gt;每个数字有 4 张&lt;/span&gt;（万条筒各 1-9 × 4）&#10;          &lt;/Text&gt;&#10;        &lt;/Box&gt;&#10;        &lt;Box style={{ flex: 1, background: '#FFFEF8', borderRadius: 12, padding: 16, border: '1px solid #eee4d2', flexDirection: 'column', gap: 6 }}&gt;&#10;          &lt;Text style={{ fontSize: 14, color: '#C9A227', fontWeight: 'bold' }}&gt;③ 减掉已见张数&lt;/Text&gt;&#10;          &lt;Text style={{ fontSize: 32, fontWeight: 'bold', color: '#C9A227' }}&gt;− 4&lt;/Text&gt;&#10;          &lt;Text style={{ fontSize: 13, color: '#4a4038', lineHeight: 1.5 }}&gt;&#10;            牌河/鸣牌里已经见过 &lt;span style={{ fontWeight: 'bold' }}&gt;4 张&lt;/span&gt;，不在牌堆里了&#10;          &lt;/Text&gt;&#10;        &lt;/Box&gt;&#10;      &lt;/Box&gt;&#10;      {/* SVG 牌河示意 */}&#10;      &lt;Box style={{ background: '#F5EDE0', borderRadius: 10, padding: 12, flexDirection: 'column', gap: 8 }}&gt;&#10;        &lt;Text style={{ fontSize: 13, color: '#6b5636' }}&gt;牌河已见 4 张示意：&lt;/Text&gt;&#10;        &lt;svg width={400} height={56} viewBox=&quot;0 0 400 56&quot;&gt;&#10;          &lt;rect x=&quot;10&quot; y=&quot;4&quot; width=&quot;40&quot; height=&quot;48&quot; rx=&quot;5&quot; fill=&quot;#e8e0d0&quot; stroke=&quot;#ccc&quot; strokeWidth=&quot;1&quot; /&gt;&#10;          &lt;text x=&quot;30&quot; y=&quot;28&quot; textAnchor=&quot;middle&quot; fontSize=&quot;16&quot; fontWeight=&quot;bold&quot; fill=&quot;#1A7F5C&quot;&gt;3&lt;/text&gt;&#10;          &lt;text x=&quot;30&quot; y=&quot;42&quot; textAnchor=&quot;middle&quot; fontSize=&quot;10&quot; fill=&quot;#999&quot;&gt;万&lt;/text&gt;&#10;          &lt;rect x=&quot;56&quot; y=&quot;4&quot; width=&quot;40&quot; height=&quot;48&quot; rx=&quot;5&quot; fill=&quot;#e8e0d0&quot; stroke=&quot;#ccc&quot; strokeWidth=&quot;1&quot; /&gt;&#10;          &lt;text x=&quot;76&quot; y=&quot;28&quot; textAnchor=&quot;middle&quot; fontSize=&quot;16&quot; fontWeight=&quot;bold&quot; fill=&quot;#1A7F5C&quot;&gt;7&lt;/text&gt;&#10;          &lt;text x=&quot;76&quot; y=&quot;42&quot; textAnchor=&quot;middle&quot; fontSize=&quot;10&quot; fill=&quot;#999&quot;&gt;条&lt;/text&gt;&#10;          &lt;rect x=&quot;102&quot; y=&quot;4&quot; width=&quot;40&quot; height=&quot;48&quot; rx=&quot;5&quot; fill=&quot;#e8e0d0&quot; stroke=&quot;#ccc&quot; strokeWidth=&quot;1&quot; /&gt;&#10;          &lt;text x=&quot;122&quot; y=&quot;28&quot; textAnchor=&quot;middle&quot; fontSize=&quot;16&quot; fontWeight=&quot;bold&quot; fill=&quot;#C0392B&quot;&gt;5&lt;/text&gt;&#10;          &lt;text x=&quot;122&quot; y=&quot;42&quot; textAnchor=&quot;middle&quot; fontSize=&quot;10&quot; fill=&quot;#999&quot;&gt;筒&lt;/text&gt;&#10;          &lt;rect x=&quot;148&quot; y=&quot;4&quot; width=&quot;40&quot; height=&quot;48&quot; rx=&quot;5&quot; fill=&quot;#e8e0d0&quot; stroke=&quot;#ccc&quot; strokeWidth=&quot;1&quot; /&gt;&#10;          &lt;text x=&quot;168&quot; y=&quot;28&quot; textAnchor=&quot;middle&quot; fontSize=&quot;16&quot; fontWeight=&quot;bold&quot; fill=&quot;#1A7F5C&quot;&gt;2&lt;/text&gt;&#10;          &lt;text x=&quot;168&quot; y=&quot;42&quot; textAnchor=&quot;middle&quot; fontSize=&quot;10&quot; fill=&quot;#999&quot;&gt;万&lt;/text&gt;&#10;          &lt;text x=&quot;220&quot; y=&quot;28&quot; fontSize=&quot;14&quot; fill=&quot;#999&quot;&gt;这 4 张已被打出/碰过，&lt;/text&gt;&#10;          &lt;text x=&quot;220&quot; y=&quot;46&quot; fontSize=&quot;14&quot; fill=&quot;#999&quot;&gt;不在牌堆里，要扣掉&lt;/text&gt;&#10;        &lt;/svg&gt;&#10;      &lt;/Box&gt;&#10;    &lt;/Box&gt;&#10;    {/* 右侧：深入解释 40% */}&#10;    &lt;Box style={{ flex: 4, flexDirection: 'column', gap: 14, justifyContent: 'center' }}&gt;&#10;      &lt;Box style={{ background: '#FFFEF8', borderRadius: 12, padding: 20, border: '1px solid #eee4d2' }}&gt;&#10;        &lt;Text style={{ fontSize: 20, fontWeight: 'bold', color: '#2B2B2B', marginBottom: 10 }}&gt;别被公式吓到&lt;/Text&gt;&#10;        &lt;Text style={{ fontSize: 16, color: '#4a4038', lineHeight: 1.8 }}&gt;&#10;          本质就是&quot;&lt;span style={{ fontWeight: 'bold', color: '#8B1A1A' }}&gt;数人头&lt;/span&gt;&quot;：&lt;br /&gt;&lt;br /&gt;&#10;          每种进张牌像一扇门，每扇门后最多站 &lt;span style={{ fontWeight: 'bold' }}&gt;4 个人&lt;/span&gt;（4 张牌）。但有些人已经露面了（在牌河里见过），所以实际等在门后的人数 = &lt;span style={{ fontWeight: 'bold', color: '#8B1A1A' }}&gt;门数 × 4 − 已经见过的&lt;/span&gt;。&lt;br /&gt;&lt;br /&gt;&#10;          这个总数越大，你&quot;&lt;span style={{ fontWeight: 'bold', color: '#8B1A1A' }}&gt;逮到一张就能冲刺&lt;/span&gt;&quot;的概率越高。&#10;        &lt;/Text&gt;&#10;      &lt;/Box&gt;&#10;      &lt;Box style={{ background: 'rgba(201,162,39,0.08)', borderRadius: 8, padding: 14, border: '1px solid #e8d8a8' }}&gt;&#10;        &lt;Text style={{ fontSize: 14, color: '#6b5636', lineHeight: 1.6, fontStyle: 'italic' }}&gt;&#10;          &quot;某手牌实际机会数 = 进张种类 × 4 − 已见张数&quot;&lt;br /&gt;&#10;          &lt;span style={{ fontSize: 12, opacity: 0.7 }}&gt;——《理论册》第 7 节 · 78 人划线&lt;/span&gt;&#10;        &lt;/Text&gt;&#10;      &lt;/Box&gt;&#10;      &lt;Box style={{ background: '#F0FBF5', borderRadius: 8, padding: 14, border: '1px solid #c3e6d3' }}&gt;&#10;        &lt;Text style={{ fontSize: 14, color: '#1A7F5C', fontWeight: 'bold' }}&gt;✅ 已落地为代码&lt;/Text&gt;&#10;        &lt;Text style={{ fontSize: 13, color: '#2C5F2D', lineHeight: 1.6, marginTop: 4 }}&gt;&#10;          &lt;span style={{ fontFamily: 'monospace', fontSize: 12, background: '#e8f5ee', padding: '2px 6px', borderRadius: 4 }}&gt;countOpportunities()&lt;/span&gt; 复用引擎 isWinningHand，支持定缺门扣减&#10;        &lt;/Text&gt;&#10;      &lt;/Box&gt;&#10;    &lt;/Box&gt;&#10;  &lt;/Box&gt;&#10;  {/* C 页脚 */}&#10;  &lt;Box style={{ height: 40, flexDirection: 'row', justifyContent: 'flex-end', alignItems: 'center', marginTop: 12 }}&gt;&#10;    &lt;Text style={{ fontSize: 14, color: '#a0a0a0' }}&gt;0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571500" y="3810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核心公式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333500" y="409575"/>
            <a:ext cx="92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第一章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机会数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机会数</a:t>
            </a:r>
            <a:r>
              <a:rPr lang="zh-CN" sz="2700" b="1">
                <a:solidFill>
                  <a:srgbClr val="8B1A1A"/>
                </a:solidFill>
                <a:latin typeface="Microsoft YaHei"/>
                <a:ea typeface="Microsoft YaHei"/>
              </a:rPr>
              <a:t>怎么算</a:t>
            </a: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571500" y="1314450"/>
            <a:ext cx="6496050" cy="1714500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8B1A1A"/>
              </a:gs>
              <a:gs pos="100000">
                <a:srgbClr val="6B10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533525" y="1714500"/>
            <a:ext cx="847725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C9A22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533650" y="1847850"/>
            <a:ext cx="314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rgbClr val="F3D9B5"/>
                </a:solidFill>
                <a:latin typeface="Microsoft YaHei"/>
                <a:ea typeface="Microsoft YaHei"/>
              </a:rPr>
              <a:t>×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000375" y="1714500"/>
            <a:ext cx="428625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C9A227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581400" y="1847850"/>
            <a:ext cx="314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rgbClr val="F3D9B5"/>
                </a:solidFill>
                <a:latin typeface="Microsoft YaHei"/>
                <a:ea typeface="Microsoft YaHei"/>
              </a:rPr>
              <a:t>−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048125" y="1714500"/>
            <a:ext cx="428625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DF6EC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629150" y="1847850"/>
            <a:ext cx="314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>
                <a:solidFill>
                  <a:srgbClr val="F3D9B5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095875" y="1619250"/>
            <a:ext cx="1019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C9A227"/>
                </a:solidFill>
                <a:latin typeface="Microsoft YaHei"/>
                <a:ea typeface="Microsoft YaHei"/>
              </a:rPr>
              <a:t>36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71500" y="3219450"/>
            <a:ext cx="2085975" cy="1400175"/>
          </a:xfrm>
          <a:prstGeom prst="roundRect">
            <a:avLst>
              <a:gd name="adj" fmla="val 8163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23900" y="337185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1A1A"/>
                </a:solidFill>
                <a:latin typeface="Microsoft YaHei"/>
                <a:ea typeface="Microsoft YaHei"/>
              </a:rPr>
              <a:t>① </a:t>
            </a:r>
            <a:r>
              <a:rPr lang="zh-CN" sz="1050" b="1">
                <a:solidFill>
                  <a:srgbClr val="8B1A1A"/>
                </a:solidFill>
                <a:latin typeface="Microsoft YaHei"/>
                <a:ea typeface="Microsoft YaHei"/>
              </a:rPr>
              <a:t>进张种类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23900" y="3590925"/>
            <a:ext cx="17811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B1A1A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23900" y="4019550"/>
            <a:ext cx="17811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 b="1">
                <a:solidFill>
                  <a:srgbClr val="4A4038"/>
                </a:solidFill>
                <a:latin typeface="Microsoft YaHei"/>
                <a:ea typeface="Microsoft YaHei"/>
              </a:rPr>
              <a:t>10 </a:t>
            </a:r>
            <a:r>
              <a:rPr lang="zh-CN" sz="975" b="1">
                <a:solidFill>
                  <a:srgbClr val="4A4038"/>
                </a:solidFill>
                <a:latin typeface="Microsoft YaHei"/>
                <a:ea typeface="Microsoft YaHei"/>
              </a:rPr>
              <a:t>种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不同的牌能让你更接近听牌——比如</a:t>
            </a:r>
            <a:r>
              <a:rPr lang="en-US" sz="975">
                <a:solidFill>
                  <a:srgbClr val="4A4038"/>
                </a:solidFill>
                <a:latin typeface="Microsoft YaHei"/>
                <a:ea typeface="Microsoft YaHei"/>
              </a:rPr>
              <a:t> 3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万、</a:t>
            </a:r>
            <a:r>
              <a:rPr lang="en-US" sz="975">
                <a:solidFill>
                  <a:srgbClr val="4A4038"/>
                </a:solidFill>
                <a:latin typeface="Microsoft YaHei"/>
                <a:ea typeface="Microsoft YaHei"/>
              </a:rPr>
              <a:t>5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筒、</a:t>
            </a:r>
            <a:r>
              <a:rPr lang="en-US" sz="975">
                <a:solidFill>
                  <a:srgbClr val="4A4038"/>
                </a:solidFill>
                <a:latin typeface="Microsoft YaHei"/>
                <a:ea typeface="Microsoft YaHei"/>
              </a:rPr>
              <a:t>7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条…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2771775" y="3219450"/>
            <a:ext cx="2095500" cy="1400175"/>
          </a:xfrm>
          <a:prstGeom prst="roundRect">
            <a:avLst>
              <a:gd name="adj" fmla="val 8163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2924175" y="3371850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7F5C"/>
                </a:solidFill>
                <a:latin typeface="Microsoft YaHei"/>
                <a:ea typeface="Microsoft YaHei"/>
              </a:rPr>
              <a:t>② </a:t>
            </a:r>
            <a:r>
              <a:rPr lang="zh-CN" sz="1050" b="1">
                <a:solidFill>
                  <a:srgbClr val="1A7F5C"/>
                </a:solidFill>
                <a:latin typeface="Microsoft YaHei"/>
                <a:ea typeface="Microsoft YaHei"/>
              </a:rPr>
              <a:t>每种最多</a:t>
            </a:r>
            <a:r>
              <a:rPr lang="en-US" sz="1050" b="1">
                <a:solidFill>
                  <a:srgbClr val="1A7F5C"/>
                </a:solidFill>
                <a:latin typeface="Microsoft YaHei"/>
                <a:ea typeface="Microsoft YaHei"/>
              </a:rPr>
              <a:t> 4 </a:t>
            </a:r>
            <a:r>
              <a:rPr lang="zh-CN" sz="1050" b="1">
                <a:solidFill>
                  <a:srgbClr val="1A7F5C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2924175" y="3590925"/>
            <a:ext cx="17907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7F5C"/>
                </a:solidFill>
                <a:latin typeface="Microsoft YaHei"/>
                <a:ea typeface="Microsoft YaHei"/>
              </a:rPr>
              <a:t>× 4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924175" y="4019550"/>
            <a:ext cx="17907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血战用</a:t>
            </a:r>
            <a:r>
              <a:rPr lang="en-US" sz="975">
                <a:solidFill>
                  <a:srgbClr val="4A4038"/>
                </a:solidFill>
                <a:latin typeface="Microsoft YaHei"/>
                <a:ea typeface="Microsoft YaHei"/>
              </a:rPr>
              <a:t> 108 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张牌，</a:t>
            </a:r>
            <a:r>
              <a:rPr lang="zh-CN" sz="975" b="1">
                <a:solidFill>
                  <a:srgbClr val="4A4038"/>
                </a:solidFill>
                <a:latin typeface="Microsoft YaHei"/>
                <a:ea typeface="Microsoft YaHei"/>
              </a:rPr>
              <a:t>每个数字有</a:t>
            </a:r>
            <a:r>
              <a:rPr lang="en-US" sz="975" b="1">
                <a:solidFill>
                  <a:srgbClr val="4A4038"/>
                </a:solidFill>
                <a:latin typeface="Microsoft YaHei"/>
                <a:ea typeface="Microsoft YaHei"/>
              </a:rPr>
              <a:t> 4 </a:t>
            </a:r>
            <a:r>
              <a:rPr lang="zh-CN" sz="975" b="1">
                <a:solidFill>
                  <a:srgbClr val="4A4038"/>
                </a:solidFill>
                <a:latin typeface="Microsoft YaHei"/>
                <a:ea typeface="Microsoft YaHei"/>
              </a:rPr>
              <a:t>张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（万条筒各</a:t>
            </a:r>
            <a:r>
              <a:rPr lang="en-US" sz="975">
                <a:solidFill>
                  <a:srgbClr val="4A4038"/>
                </a:solidFill>
                <a:latin typeface="Microsoft YaHei"/>
                <a:ea typeface="Microsoft YaHei"/>
              </a:rPr>
              <a:t> 1-9 × 4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981575" y="3219450"/>
            <a:ext cx="2085975" cy="1400175"/>
          </a:xfrm>
          <a:prstGeom prst="roundRect">
            <a:avLst>
              <a:gd name="adj" fmla="val 8163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133975" y="337185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9A227"/>
                </a:solidFill>
                <a:latin typeface="Microsoft YaHei"/>
                <a:ea typeface="Microsoft YaHei"/>
              </a:rPr>
              <a:t>③ </a:t>
            </a:r>
            <a:r>
              <a:rPr lang="zh-CN" sz="1050" b="1">
                <a:solidFill>
                  <a:srgbClr val="C9A227"/>
                </a:solidFill>
                <a:latin typeface="Microsoft YaHei"/>
                <a:ea typeface="Microsoft YaHei"/>
              </a:rPr>
              <a:t>减掉已见张数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133975" y="3590925"/>
            <a:ext cx="17811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C9A227"/>
                </a:solidFill>
                <a:latin typeface="Microsoft YaHei"/>
                <a:ea typeface="Microsoft YaHei"/>
              </a:rPr>
              <a:t>− 4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133975" y="4019550"/>
            <a:ext cx="17811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牌河</a:t>
            </a:r>
            <a:r>
              <a:rPr lang="en-US" sz="975">
                <a:solidFill>
                  <a:srgbClr val="4A403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鸣牌里已经见过</a:t>
            </a:r>
            <a:r>
              <a:rPr lang="en-US" sz="975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4A4038"/>
                </a:solidFill>
                <a:latin typeface="Microsoft YaHei"/>
                <a:ea typeface="Microsoft YaHei"/>
              </a:rPr>
              <a:t>4 </a:t>
            </a:r>
            <a:r>
              <a:rPr lang="zh-CN" sz="975" b="1">
                <a:solidFill>
                  <a:srgbClr val="4A4038"/>
                </a:solidFill>
                <a:latin typeface="Microsoft YaHei"/>
                <a:ea typeface="Microsoft YaHei"/>
              </a:rPr>
              <a:t>张</a:t>
            </a:r>
            <a:r>
              <a:rPr lang="zh-CN" sz="975">
                <a:solidFill>
                  <a:srgbClr val="4A4038"/>
                </a:solidFill>
                <a:latin typeface="Microsoft YaHei"/>
                <a:ea typeface="Microsoft YaHei"/>
              </a:rPr>
              <a:t>，不在牌堆里了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71500" y="4810125"/>
            <a:ext cx="6496050" cy="990600"/>
          </a:xfrm>
          <a:prstGeom prst="roundRect">
            <a:avLst>
              <a:gd name="adj" fmla="val 9615"/>
            </a:avLst>
          </a:prstGeom>
          <a:solidFill>
            <a:srgbClr val="F5EDE0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85800" y="4924425"/>
            <a:ext cx="6267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5636"/>
                </a:solidFill>
                <a:latin typeface="Microsoft YaHei"/>
                <a:ea typeface="Microsoft YaHei"/>
              </a:rPr>
              <a:t>牌河已见</a:t>
            </a:r>
            <a:r>
              <a:rPr lang="en-US" sz="975">
                <a:solidFill>
                  <a:srgbClr val="6B5636"/>
                </a:solidFill>
                <a:latin typeface="Microsoft YaHei"/>
                <a:ea typeface="Microsoft YaHei"/>
              </a:rPr>
              <a:t> 4 </a:t>
            </a:r>
            <a:r>
              <a:rPr lang="zh-CN" sz="975">
                <a:solidFill>
                  <a:srgbClr val="6B5636"/>
                </a:solidFill>
                <a:latin typeface="Microsoft YaHei"/>
                <a:ea typeface="Microsoft YaHei"/>
              </a:rPr>
              <a:t>张示意：</a:t>
            </a:r>
            <a:endParaRPr/>
          </a:p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5153025"/>
            <a:ext cx="3810000" cy="533400"/>
          </a:xfrm>
          <a:prstGeom prst="rect">
            <a:avLst/>
          </a:prstGeom>
          <a:ln/>
        </p:spPr>
      </p:pic>
      <p:sp>
        <p:nvSpPr>
          <p:cNvPr id="249" name=""/>
          <p:cNvSpPr/>
          <p:nvPr/>
        </p:nvSpPr>
        <p:spPr>
          <a:xfrm rot="0" flipH="0" flipV="0">
            <a:off x="7296150" y="1190625"/>
            <a:ext cx="4324350" cy="3009900"/>
          </a:xfrm>
          <a:prstGeom prst="roundRect">
            <a:avLst>
              <a:gd name="adj" fmla="val 3797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486650" y="1381125"/>
            <a:ext cx="394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B2B"/>
                </a:solidFill>
                <a:latin typeface="Microsoft YaHei"/>
                <a:ea typeface="Microsoft YaHei"/>
              </a:rPr>
              <a:t>别被公式吓到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486650" y="1704975"/>
            <a:ext cx="3943350" cy="2305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本质就是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数人头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：</a:t>
            </a:r>
            <a:endParaRPr/>
          </a:p>
          <a:p>
            <a:pPr>
              <a:lnSpc>
                <a:spcPct val="180000"/>
              </a:lnSpc>
            </a:pPr>
            <a:r>
              <a:rPr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每种进张牌像一扇门，每扇门后最多站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en-US" sz="1200" b="1">
                <a:solidFill>
                  <a:srgbClr val="4A4038"/>
                </a:solidFill>
                <a:latin typeface="Microsoft YaHei"/>
                <a:ea typeface="Microsoft YaHei"/>
              </a:rPr>
              <a:t>4 </a:t>
            </a:r>
            <a:r>
              <a:rPr lang="zh-CN" sz="1200" b="1">
                <a:solidFill>
                  <a:srgbClr val="4A4038"/>
                </a:solidFill>
                <a:latin typeface="Microsoft YaHei"/>
                <a:ea typeface="Microsoft YaHei"/>
              </a:rPr>
              <a:t>个人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4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张牌）。但有些人已经露面了（在牌河里见过），所以实际等在门后的人数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= 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门数</a:t>
            </a: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 × 4 − 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已经见过的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80000"/>
              </a:lnSpc>
            </a:pPr>
            <a:r>
              <a:rPr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这个总数越大，你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逮到一张就能冲刺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的概率越高。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7296150" y="4333875"/>
            <a:ext cx="4324350" cy="742950"/>
          </a:xfrm>
          <a:prstGeom prst="roundRect">
            <a:avLst>
              <a:gd name="adj" fmla="val 10256"/>
            </a:avLst>
          </a:prstGeom>
          <a:solidFill>
            <a:srgbClr val="C9A227">
              <a:alpha val="8000"/>
            </a:srgbClr>
          </a:solidFill>
          <a:ln w="12700">
            <a:solidFill>
              <a:srgbClr val="E8D8A8"/>
            </a:solidFill>
            <a:prstDash val="solid"/>
          </a:ln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429500" y="4467225"/>
            <a:ext cx="405765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"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某手牌实际机会数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 = 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进张种类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 × 4 − 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已见张数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60000"/>
              </a:lnSpc>
            </a:pP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——《理论册》第</a:t>
            </a:r>
            <a:r>
              <a:rPr lang="en-US" sz="900" i="1">
                <a:solidFill>
                  <a:srgbClr val="6B5636"/>
                </a:solidFill>
                <a:latin typeface="Microsoft YaHei"/>
                <a:ea typeface="Microsoft YaHei"/>
              </a:rPr>
              <a:t> 7 </a:t>
            </a: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节</a:t>
            </a:r>
            <a:r>
              <a:rPr lang="en-US" sz="900" i="1">
                <a:solidFill>
                  <a:srgbClr val="6B5636"/>
                </a:solidFill>
                <a:latin typeface="Microsoft YaHei"/>
                <a:ea typeface="Microsoft YaHei"/>
              </a:rPr>
              <a:t> · 78 </a:t>
            </a: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人划线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7296150" y="5210175"/>
            <a:ext cx="4324350" cy="704850"/>
          </a:xfrm>
          <a:prstGeom prst="roundRect">
            <a:avLst>
              <a:gd name="adj" fmla="val 10811"/>
            </a:avLst>
          </a:prstGeom>
          <a:solidFill>
            <a:srgbClr val="F0FBF5"/>
          </a:solidFill>
          <a:ln w="12700">
            <a:solidFill>
              <a:srgbClr val="C3E6D3"/>
            </a:solidFill>
            <a:prstDash val="solid"/>
          </a:ln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429500" y="5343525"/>
            <a:ext cx="405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7F5C"/>
                </a:solidFill>
                <a:latin typeface="Microsoft YaHei"/>
                <a:ea typeface="Microsoft YaHei"/>
              </a:rPr>
              <a:t>✅ </a:t>
            </a:r>
            <a:r>
              <a:rPr lang="zh-CN" sz="1050" b="1">
                <a:solidFill>
                  <a:srgbClr val="1A7F5C"/>
                </a:solidFill>
                <a:latin typeface="Microsoft YaHei"/>
                <a:ea typeface="Microsoft YaHei"/>
              </a:rPr>
              <a:t>已落地为代码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429500" y="5543550"/>
            <a:ext cx="40576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2C5F2D"/>
                </a:solidFill>
                <a:highlight>
                  <a:srgbClr val="E8F5EE"/>
                </a:highlight>
                <a:latin typeface="Microsoft YaHei"/>
                <a:ea typeface="Microsoft YaHei"/>
              </a:rPr>
              <a:t>countOpportunities()</a:t>
            </a:r>
            <a:r>
              <a:rPr lang="en-US" sz="975">
                <a:solidFill>
                  <a:srgbClr val="2C5F2D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2C5F2D"/>
                </a:solidFill>
                <a:latin typeface="Microsoft YaHei"/>
                <a:ea typeface="Microsoft YaHei"/>
              </a:rPr>
              <a:t>复用引擎</a:t>
            </a:r>
            <a:r>
              <a:rPr lang="en-US" sz="975">
                <a:solidFill>
                  <a:srgbClr val="2C5F2D"/>
                </a:solidFill>
                <a:latin typeface="Microsoft YaHei"/>
                <a:ea typeface="Microsoft YaHei"/>
              </a:rPr>
              <a:t> isWinningHand</a:t>
            </a:r>
            <a:r>
              <a:rPr lang="zh-CN" sz="975">
                <a:solidFill>
                  <a:srgbClr val="2C5F2D"/>
                </a:solidFill>
                <a:latin typeface="Microsoft YaHei"/>
                <a:ea typeface="Microsoft YaHei"/>
              </a:rPr>
              <a:t>，支持定缺门扣减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a16="http://schemas.microsoft.com/office/drawing/2014/main"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16 asvg">
  <p:cSld>
    <p:spTree>
      <p:nvGrpSpPr>
        <p:cNvPr id="258" name="" descr="&lt;Slide style={{&#10;  width: '1280px', height: '720px',&#10;  background: '#FAF7F2', padding: '40px 60px 20px',&#10;  flexDirection: 'column',&#10;}}&gt;&#10;  {/* A 标题区 */}&#10;  &lt;Box style={{ marginBottom: 16 }}&gt;&#10;    &lt;Box style={{ flexDirection: 'row', alignItems: 'center', gap: 12, marginBottom: 4 }}&gt;&#10;      &lt;Box style={{ background: '#C9A227', borderRadius: 6, padding: '4px 10px' }}&gt;&#10;        &lt;Text style={{ fontSize: 12, fontWeight: 'bold', color: '#fff' }}&gt;速查基准&lt;/Text&gt;&#10;      &lt;/Box&gt;&#10;      &lt;Text style={{ fontSize: 14, color: '#6B6B6B' }}&gt;第一章 · 机会数&lt;/Text&gt;&#10;    &lt;/Box&gt;&#10;    &lt;Text style={{ fontSize: 36, fontWeight: 'bold', color: '#2B2B2B' }}&gt;&#10;      机会数&lt;span style={{ color: '#C9A227' }}&gt;基准值&lt;/span&gt;&#10;    &lt;/Text&gt;&#10;  &lt;/Box&gt;&#10;  {/* B 内容区 - 图表+洞察 */}&#10;  &lt;Box style={{ flexDirection: 'row', gap: 24, flex: 1, height: 500 }}&gt;&#10;    {/* 左侧：SVG 柱状对比图 */}&#10;    &lt;Box style={{ flex: 6, background: '#FFFEF8', borderRadius: 16, padding: 24, border: '1px solid #eee4d2', flexDirection: 'column', gap: 16 }}&gt;&#10;      &lt;Text style={{ fontSize: 18, fontWeight: 'bold', color: '#3a2a1a' }}&gt;不同听牌形态的机会数对比&lt;/Text&gt;&#10;      &lt;svg width={560} height={360} viewBox=&quot;0 0 560 360&quot;&gt;&#10;        {/* Y轴 */}&#10;        &lt;line x1=&quot;50&quot; y1=&quot;20&quot; x2=&quot;50&quot; y2=&quot;320&quot; stroke=&quot;#ccc&quot; strokeWidth=&quot;1&quot; /&gt;&#10;        {/* X轴 */}&#10;        &lt;line x1=&quot;50&quot; y1=&quot;320&quot; x2=&quot;540&quot; y2=&quot;320&quot; stroke=&quot;#ccc&quot; strokeWidth=&quot;1&quot; /&gt;&#10;        {/* 刻度线 */}&#10;        &lt;line x1=&quot;45&quot; y1=&quot;80&quot; x2=&quot;540&quot; y2=&quot;80&quot; stroke=&quot;#eee&quot; strokeWidth=&quot;1&quot; strokeDasharray=&quot;4&quot; /&gt;&#10;        &lt;text x=&quot;40&quot; y=&quot;84&quot; textAnchor=&quot;end&quot; fontSize=&quot;11&quot; fill=&quot;#999&quot;&gt;24&lt;/text&gt;&#10;        &lt;line x1=&quot;45&quot; y1=&quot;145&quot; x2=&quot;540&quot; y2=&quot;145&quot; stroke=&quot;#eee&quot; strokeWidth=&quot;1&quot; strokeDasharray=&quot;4&quot; /&gt;&#10;        &lt;text x=&quot;40&quot; y=&quot;149&quot; textAnchor=&quot;end&quot; fontSize=&quot;11&quot; fill=&quot;#999&quot;&gt;11&lt;/text&gt;&#10;        &lt;line x1=&quot;45&quot; y1=&quot;195&quot; x2=&quot;540&quot; y2=&quot;195&quot; stroke=&quot;#eee&quot; strokeWidth=&quot;1&quot; strokeDasharray=&quot;4&quot; /&gt;&#10;        &lt;text x=&quot;40&quot; y=&quot;199&quot; textAnchor=&quot;end&quot; fontSize=&quot;11&quot; fill=&quot;#999&quot;&gt;8&lt;/text&gt;&#10;        &lt;line x1=&quot;45&quot; y1=&quot;278&quot; x2=&quot;540&quot; y2=&quot;278&quot; stroke=&quot;#eee&quot; strokeWidth=&quot;1&quot; strokeDasharray=&quot;4&quot; /&gt;&#10;        &lt;text x=&quot;40&quot; y=&quot;282&quot; textAnchor=&quot;end&quot; fontSize=&quot;11&quot; fill=&quot;#999&quot;&gt;4&lt;/text&gt;&#10;        &lt;text x=&quot;40&quot; y=&quot;332&quot; textAnchor=&quot;end&quot; fontSize=&quot;11&quot; fill=&quot;#999&quot;&gt;0&lt;/text&gt;&#10;        {/* 单吊=3 */}&#10;        &lt;rect x=&quot;70&quot; y=&quot;297&quot; width=&quot;70&quot; height=&quot;23&quot; fill=&quot;#8B1A1A&quot; rx=&quot;4&quot; opacity=&quot;0.7&quot; /&gt;&#10;        &lt;text x=&quot;105&quot; y=&quot;290&quot; textAnchor=&quot;middle&quot; fontSize=&quot;16&quot; fontWeight=&quot;bold&quot; fill=&quot;#8B1A1A&quot;&gt;3&lt;/text&gt;&#10;        &lt;text x=&quot;105&quot; y=&quot;340&quot; textAnchor=&quot;middle&quot; fontSize=&quot;13&quot; fill=&quot;#4a4038&quot;&gt;单吊&lt;/text&gt;&#10;        {/* 间张听=4 */}&#10;        &lt;rect x=&quot;170&quot; y=&quot;290&quot; width=&quot;70&quot; height=&quot;30&quot; fill=&quot;#8B1A1A&quot; rx=&quot;4&quot; opacity=&quot;0.75&quot; /&gt;&#10;        &lt;text x=&quot;205&quot; y=&quot;283&quot; textAnchor=&quot;middle&quot; fontSize=&quot;16&quot; fontWeight=&quot;bold&quot; fill=&quot;#8B1A1A&quot;&gt;4&lt;/text&gt;&#10;        &lt;text x=&quot;205&quot; y=&quot;340&quot; textAnchor=&quot;middle&quot; fontSize=&quot;13&quot; fill=&quot;#4a4038&quot;&gt;间张听&lt;/text&gt;&#10;        {/* 两头听=8 */}&#10;        &lt;rect x=&quot;270&quot; y=&quot;260&quot; width=&quot;70&quot; height=&quot;60&quot; fill=&quot;#C9A227&quot; rx=&quot;4&quot; opacity=&quot;0.8&quot; /&gt;&#10;        &lt;text x=&quot;305&quot; y=&quot;253&quot; textAnchor=&quot;middle&quot; fontSize=&quot;16&quot; fontWeight=&quot;bold&quot; fill=&quot;#C9A227&quot;&gt;8&lt;/text&gt;&#10;        &lt;text x=&quot;305&quot; y=&quot;340&quot; textAnchor=&quot;middle&quot; fontSize=&quot;13&quot; fill=&quot;#4a4038&quot;&gt;两头听&lt;/text&gt;&#10;        {/* 三张听=11 */}&#10;        &lt;rect x=&quot;370&quot; y=&quot;238&quot; width=&quot;70&quot; height=&quot;82&quot; fill=&quot;#C9A227&quot; rx=&quot;4&quot; opacity=&quot;0.9&quot; /&gt;&#10;        &lt;text x=&quot;405&quot; y=&quot;231&quot; textAnchor=&quot;middle&quot; fontSize=&quot;16&quot; fontWeight=&quot;bold&quot; fill=&quot;#C9A227&quot;&gt;11&lt;/text&gt;&#10;        &lt;text x=&quot;405&quot; y=&quot;340&quot; textAnchor=&quot;middle&quot; fontSize=&quot;13&quot; fill=&quot;#4a4038&quot;&gt;三面听&lt;/text&gt;&#10;        {/* 24=易听 */}&#10;        &lt;rect x=&quot;470&quot; y=&quot;80&quot; width=&quot;70&quot; height=&quot;240&quot; fill=&quot;#1A7F5C&quot; rx=&quot;4&quot; opacity=&quot;0.7&quot; /&gt;&#10;        &lt;text x=&quot;505&quot; y=&quot;73&quot; textAnchor=&quot;middle&quot; fontSize=&quot;16&quot; fontWeight=&quot;bold&quot; fill=&quot;#1A7F5C&quot;&gt;24&lt;/text&gt;&#10;        &lt;text x=&quot;505&quot; y=&quot;340&quot; textAnchor=&quot;middle&quot; fontSize=&quot;13&quot; fill=&quot;#4a4038&quot;&gt;易听&lt;/text&gt;&#10;        {/* 24 基准线标注 */}&#10;        &lt;line x1=&quot;55&quot; y1=&quot;80&quot; x2=&quot;540&quot; y2=&quot;80&quot; stroke=&quot;#1A7F5C&quot; strokeWidth=&quot;1.5&quot; strokeDasharray=&quot;6 3&quot; /&gt;&#10;        &lt;text x=&quot;540&quot; y=&quot;74&quot; textAnchor=&quot;end&quot; fontSize=&quot;12&quot; fill=&quot;#1A7F5C&quot; fontWeight=&quot;bold&quot;&gt;&quot;听牌很容易&quot;&lt;/text&gt;&#10;      &lt;/svg&gt;&#10;    &lt;/Box&gt;&#10;    {/* 右侧：表格 + 洞察 */}&#10;    &lt;Box style={{ flex: 4, flexDirection: 'column', gap: 16 }}&gt;&#10;      &lt;Table&#10;        style={{ width: '100%', height: 260 }}&#10;        defaultTextStyle={{ fontSize: 15, textAlign: 'center', color: '#222' }}&#10;        defaultCellStyle={{&#10;          border: {&#10;            left: { width: 1, color: '#eee4d2' },&#10;            right: { width: 1, color: '#eee4d2' },&#10;            top: { width: 1, color: '#eee4d2' },&#10;            bottom: { width: 1, color: '#eee4d2' },&#10;          },&#10;        }}&#10;        cells={[&#10;          [&#10;            { text: '形态', textStyle: { bold: true, color: '#fff' }, cellStyle: { background: { color: '#8B1A1A' } } },&#10;            { text: '机会数', textStyle: { bold: true, color: '#fff' }, cellStyle: { background: { color: '#8B1A1A' } } },&#10;            { text: '说明', textStyle: { bold: true, color: '#fff' }, cellStyle: { background: { color: '#8B1A1A' } } },&#10;          ],&#10;          ['单吊', { text: '3', textStyle: { bold: true, color: '#8B1A1A', fontSize: 18 } }, '4张−己见1'],&#10;          [&#10;            { text: '间张听', cellStyle: { background: { color: '#faf5ec' } } },&#10;            { text: '4', textStyle: { bold: true, color: '#8B1A1A', fontSize: 18 }, cellStyle: { background: { color: '#faf5ec' } } },&#10;            { text: '如3、5听4', cellStyle: { background: { color: '#faf5ec' } } },&#10;          ],&#10;          ['两头听', { text: '最大8', textStyle: { bold: true, color: '#C9A227', fontSize: 18 } }, '如3、4听2、5'],&#10;          [&#10;            { text: '三面听', cellStyle: { background: { color: '#faf5ec' } } },&#10;            { text: '最大11', textStyle: { bold: true, color: '#C9A227', fontSize: 18 }, cellStyle: { background: { color: '#faf5ec' } } },&#10;            { text: '多面同时听', cellStyle: { background: { color: '#faf5ec' } } },&#10;          ],&#10;          [&#10;            { text: '≥24', textStyle: { bold: true, color: '#1A7F5C' }, cellStyle: { background: { color: '#e8f5ee' } } },&#10;            { text: '&quot;易听&quot;', textStyle: { bold: true, color: '#1A7F5C', fontSize: 18 }, cellStyle: { background: { color: '#e8f5ee' } } },&#10;            { text: '朱扬原话', textStyle: { color: '#1A7F5C' }, cellStyle: { background: { color: '#e8f5ee' } } },&#10;          ],&#10;        ]}&#10;      /&gt;&#10;      &lt;Box style={{ background: '#FFFEF8', borderRadius: 12, padding: 16, border: '1px solid #eee4d2', flex: 1 }}&gt;&#10;        &lt;Text style={{ fontSize: 16, fontWeight: 'bold', color: '#8B1A1A', marginBottom: 6 }}&gt;📊 怎么用&lt;/Text&gt;&#10;        &lt;Text style={{ fontSize: 15, color: '#4a4038', lineHeight: 1.7 }}&gt;&#10;          打牌时心里默念：手牌机会数&lt;span style={{ fontWeight: 'bold', color: '#8B1A1A' }}&gt;≥24&lt;/span&gt; → 很容易听，大胆做牌；&lt;span style={{ fontWeight: 'bold', color: '#C9A227' }}&gt;8-11&lt;/span&gt; → 中等，有进张就下听；&lt;span style={{ fontWeight: 'bold', color: '#8B1A1A' }}&gt;3-4&lt;/span&gt; → 只剩单吊/间张，注意别让人先胡了。&#10;        &lt;/Text&gt;&#10;      &lt;/Box&gt;&#10;    &lt;/Box&gt;&#10;  &lt;/Box&gt;&#10;  {/* C 页脚 */}&#10;  &lt;Box style={{ height: 40, flexDirection: 'row', justifyContent: 'flex-end', alignItems: 'center', marginTop: 12 }}&gt;&#10;    &lt;Text style={{ fontSize: 14, color: '#a0a0a0' }}&gt;0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571500" y="3810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速查基准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33500" y="409575"/>
            <a:ext cx="92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第一章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机会数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机会数</a:t>
            </a:r>
            <a:r>
              <a:rPr lang="zh-CN" sz="2700" b="1">
                <a:solidFill>
                  <a:srgbClr val="C9A227"/>
                </a:solidFill>
                <a:latin typeface="Microsoft YaHei"/>
                <a:ea typeface="Microsoft YaHei"/>
              </a:rPr>
              <a:t>基准值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571500" y="1209675"/>
            <a:ext cx="6496050" cy="4762500"/>
          </a:xfrm>
          <a:prstGeom prst="roundRect">
            <a:avLst>
              <a:gd name="adj" fmla="val 3200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00100" y="1438275"/>
            <a:ext cx="603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不同听牌形态的机会数对比</a:t>
            </a:r>
            <a:endParaRPr/>
          </a:p>
        </p:txBody>
      </p:sp>
      <p:pic>
        <p:nvPicPr>
          <p:cNvPr id="2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800225"/>
            <a:ext cx="5334000" cy="3429000"/>
          </a:xfrm>
          <a:prstGeom prst="rect">
            <a:avLst/>
          </a:prstGeom>
          <a:ln/>
        </p:spPr>
      </p:pic>
      <p:graphicFrame>
        <p:nvGraphicFramePr>
          <p:cNvPr id="267" name=""/>
          <p:cNvGraphicFramePr/>
          <p:nvPr/>
        </p:nvGraphicFramePr>
        <p:xfrm rot="0" flipH="0" flipV="0">
          <a:off x="7296150" y="1209675"/>
          <a:ext cx="4324350" cy="2476500"/>
        </p:xfrm>
        <a:graphic>
          <a:graphicData uri="http://schemas.openxmlformats.org/drawingml/2006/table">
            <a:tbl>
              <a:tblGrid>
                <a:gridCol w="1055002">
                  <a:extLst>
                    <a:ext uri="{9D8B030D-6E8A-4147-A177-3AD203B41FA5}">
                      <a16:colId val="1"/>
                    </a:ext>
                  </a:extLst>
                </a:gridCol>
                <a:gridCol w="1267549">
                  <a:extLst>
                    <a:ext uri="{9D8B030D-6E8A-4147-A177-3AD203B41FA5}">
                      <a16:colId val="2"/>
                    </a:ext>
                  </a:extLst>
                </a:gridCol>
                <a:gridCol w="200179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7336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机会数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2062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单吊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8B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4张−己见1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2062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间张听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8B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如3、5听4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2062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两头听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C9A227"/>
                          </a:solidFill>
                          <a:latin typeface="Microsoft YaHei"/>
                          <a:ea typeface="Microsoft YaHei"/>
                        </a:rPr>
                        <a:t>最大8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如3、4听2、5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2062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三面听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C9A227"/>
                          </a:solidFill>
                          <a:latin typeface="Microsoft YaHei"/>
                          <a:ea typeface="Microsoft YaHei"/>
                        </a:rPr>
                        <a:t>最大11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多面同时听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2062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≥24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"易听"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朱扬原话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68" name=""/>
          <p:cNvSpPr/>
          <p:nvPr/>
        </p:nvSpPr>
        <p:spPr>
          <a:xfrm rot="0" flipH="0" flipV="0">
            <a:off x="7296150" y="3838575"/>
            <a:ext cx="4324350" cy="2133600"/>
          </a:xfrm>
          <a:prstGeom prst="roundRect">
            <a:avLst>
              <a:gd name="adj" fmla="val 5357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448550" y="3990975"/>
            <a:ext cx="4019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📊 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怎么用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448550" y="4238625"/>
            <a:ext cx="40195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打牌时心里默念：手牌机会数</a:t>
            </a:r>
            <a:r>
              <a:rPr lang="en-US" sz="1125" b="1">
                <a:solidFill>
                  <a:srgbClr val="8B1A1A"/>
                </a:solidFill>
                <a:latin typeface="Microsoft YaHei"/>
                <a:ea typeface="Microsoft YaHei"/>
              </a:rPr>
              <a:t>≥24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很容易听，大胆做牌；</a:t>
            </a:r>
            <a:r>
              <a:rPr lang="en-US" sz="1125" b="1">
                <a:solidFill>
                  <a:srgbClr val="C9A227"/>
                </a:solidFill>
                <a:latin typeface="Microsoft YaHei"/>
                <a:ea typeface="Microsoft YaHei"/>
              </a:rPr>
              <a:t>8-11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中等，有进张就下听；</a:t>
            </a:r>
            <a:r>
              <a:rPr lang="en-US" sz="1125" b="1">
                <a:solidFill>
                  <a:srgbClr val="8B1A1A"/>
                </a:solidFill>
                <a:latin typeface="Microsoft YaHei"/>
                <a:ea typeface="Microsoft YaHei"/>
              </a:rPr>
              <a:t>3-4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只剩单吊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间张，注意别让人先胡了。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72" name="" descr="&lt;Slide style={{&#10;  width: '1280px', height: '720px',&#10;  background: 'linear-gradient(135deg, #8B1A1A 0%, #5C0E0E 50%, #8B1A1A 100%)',&#10;  padding: '60px', flexDirection: 'column', justifyContent: 'center', alignItems: 'center',&#10;  position: 'relative', overflow: 'hidden',&#10;}}&gt;&#10;  &lt;svg width={600} height={600} viewBox=&quot;0 0 600 600&quot; style={{ position: 'absolute', left: 0, bottom: 0, opacity: 0.06 }}&gt;&#10;    &lt;circle cx=&quot;300&quot; cy=&quot;300&quot; r=&quot;280&quot; fill=&quot;none&quot; stroke=&quot;#fff&quot; strokeWidth=&quot;2&quot; /&gt;&#10;    &lt;circle cx=&quot;300&quot; cy=&quot;300&quot; r=&quot;200&quot; fill=&quot;none&quot; stroke=&quot;#fff&quot; strokeWidth=&quot;2&quot; /&gt;&#10;    &lt;circle cx=&quot;300&quot; cy=&quot;300&quot; r=&quot;120&quot; fill=&quot;none&quot; stroke=&quot;#fff&quot; strokeWidth=&quot;2&quot; /&gt;&#10;  &lt;/svg&gt;&#10;  &lt;Box style={{ marginBottom: 16 }}&gt;&#10;    &lt;Text style={{ fontSize: 20, color: '#C9A227', letterSpacing: 6 }}&gt;CHAPTER 02&lt;/Text&gt;&#10;  &lt;/Box&gt;&#10;  &lt;Text style={{ fontSize: 80, fontWeight: 'bold', color: '#FDF6EC', marginBottom: 16 }}&gt;&#10;    组合秘籍&#10;  &lt;/Text&gt;&#10;  &lt;Text style={{ fontSize: 28, color: '#F3D9B5', marginBottom: 24 }}&gt;&#10;    两张牌的辐射力&#10;  &lt;/Text&gt;&#10;  &lt;Box style={{ maxWidth: 680, textAlign: 'center' }}&gt;&#10;    &lt;Text style={{ fontSize: 18, color: '#E8C98A', lineHeight: 1.8 }}&gt;&#10;      &quot;27、37、38 这 3 种组合效率最高，只用 2 个数就把 1～9 全部连接起来&quot;&lt;br /&gt;&#10;      &lt;span style={{ fontSize: 14, opacity: 0.7 }}&gt;——《理论册》第 3 节 · 108 人划线（全书最高）&lt;/span&gt;&#10;    &lt;/Text&gt;&#10;  &lt;/Box&gt;&#10;  &lt;Box style={{ position: 'absolute', bottom: 30, right: 60 }}&gt;&#10;    &lt;Text style={{ fontSize: 14, color: '#E8C98A', opacity: 0.5 }}&gt;07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1A1A"/>
              </a:gs>
              <a:gs pos="50000">
                <a:srgbClr val="5C0E0E"/>
              </a:gs>
              <a:gs pos="100000">
                <a:srgbClr val="8B1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219700" y="2095500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C9A227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572000" y="2476500"/>
            <a:ext cx="30480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0" b="1">
                <a:solidFill>
                  <a:srgbClr val="FDF6EC"/>
                </a:solidFill>
                <a:latin typeface="Microsoft YaHei"/>
                <a:ea typeface="Microsoft YaHei"/>
              </a:rPr>
              <a:t>组合秘籍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162550" y="3543300"/>
            <a:ext cx="1866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F3D9B5"/>
                </a:solidFill>
                <a:latin typeface="Microsoft YaHei"/>
                <a:ea typeface="Microsoft YaHei"/>
              </a:rPr>
              <a:t>两张牌的辐射力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333750" y="4095750"/>
            <a:ext cx="55245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"27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37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38 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这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 3 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种组合效率最高，只用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个数就把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 1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～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全部连接起来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——《理论册》第</a:t>
            </a:r>
            <a:r>
              <a:rPr lang="en-US" sz="1050">
                <a:solidFill>
                  <a:srgbClr val="E8C98A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节</a:t>
            </a:r>
            <a:r>
              <a:rPr lang="en-US" sz="1050">
                <a:solidFill>
                  <a:srgbClr val="E8C98A"/>
                </a:solidFill>
                <a:latin typeface="Microsoft YaHei"/>
                <a:ea typeface="Microsoft YaHei"/>
              </a:rPr>
              <a:t> · 108 </a:t>
            </a: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人划线（全书最高）</a:t>
            </a:r>
            <a:endParaRPr/>
          </a:p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alphaModFix amt="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1143000"/>
            <a:ext cx="5715000" cy="571500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210925" y="6410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C98A">
                    <a:alpha val="50000"/>
                  </a:srgbClr>
                </a:solidFill>
                <a:latin typeface="Microsoft YaHei"/>
                <a:ea typeface="Microsoft YaHei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80" name="" descr="&lt;Slide style={{&#10;  width: '1280px', height: '720px',&#10;  background: '#FAF7F2', padding: '40px 60px 20px',&#10;  flexDirection: 'column',&#10;}}&gt;&#10;  {/* A 标题区 */}&#10;  &lt;Box style={{ marginBottom: 12 }}&gt;&#10;    &lt;Box style={{ flexDirection: 'row', alignItems: 'center', gap: 12, marginBottom: 4 }}&gt;&#10;      &lt;Box style={{ background: '#8B1A1A', borderRadius: 6, padding: '4px 10px' }}&gt;&#10;        &lt;Text style={{ fontSize: 12, fontWeight: 'bold', color: '#fff' }}&gt;组合秘籍 · 全书最高热度&lt;/Text&gt;&#10;      &lt;/Box&gt;&#10;      &lt;Text style={{ fontSize: 14, color: '#6B6B6B' }}&gt;第二章 · 组合秘籍&lt;/Text&gt;&#10;    &lt;/Box&gt;&#10;    &lt;Text style={{ fontSize: 36, fontWeight: 'bold', color: '#2B2B2B' }}&gt;&#10;      为什么 &lt;span style={{ color: '#8B1A1A' }}&gt;27 / 37 / 38&lt;/span&gt; 最强？&#10;    &lt;/Text&gt;&#10;  &lt;/Box&gt;&#10;  {/* B 内容区 - 左大图+右侧文字 */}&#10;  &lt;Box style={{ flexDirection: 'row', gap: 24, flex: 1, height: 500 }}&gt;&#10;    {/* 左侧：SVG 辐射图 55% */}&#10;    &lt;Box style={{ flex: 55, background: '#FFFEF8', borderRadius: 16, padding: 20, border: '1px solid #eee4d2', flexDirection: 'column', justifyContent: 'center', gap: 12 }}&gt;&#10;      &lt;Text style={{ fontSize: 18, fontWeight: 'bold', color: '#3a2a1a', textAlign: 'center' }}&gt;&#10;        以 &lt;span style={{ color: '#1A7F5C' }}&gt;2万&lt;/span&gt; + &lt;span style={{ color: '#C9A227' }}&gt;7万&lt;/span&gt; 为例：两张牌如何&quot;辐射&quot;覆盖 1-9&#10;      &lt;/Text&gt;&#10;      &lt;svg width={600} height={400} viewBox=&quot;0 0 600 400&quot;&gt;&#10;        {/* 顶部：两张锚牌 */}&#10;        {/* 2万 */}&#10;        &lt;rect x=&quot;60&quot; y=&quot;20&quot; width=&quot;60&quot; height=&quot;75&quot; rx=&quot;8&quot; fill=&quot;#FFFEF8&quot; stroke=&quot;#1A7F5C&quot; strokeWidth=&quot;3&quot; /&gt;&#10;        &lt;text x=&quot;90&quot; y=&quot;52&quot; textAnchor=&quot;middle&quot; fontSize=&quot;28&quot; fontWeight=&quot;bold&quot; fill=&quot;#1A7F5C&quot;&gt;2&lt;/text&gt;&#10;        &lt;text x=&quot;90&quot; y=&quot;72&quot; textAnchor=&quot;middle&quot; fontSize=&quot;13&quot; fill=&quot;#1A7F5C&quot;&gt;万&lt;/text&gt;&#10;        &lt;text x=&quot;90&quot; y=&quot;14&quot; textAnchor=&quot;middle&quot; fontSize=&quot;11&quot; fill=&quot;#1A7F5C&quot; fontWeight=&quot;bold&quot;&gt;辐射到 1,3,4&lt;/text&gt;&#10;        {/* 7万 */}&#10;        &lt;rect x=&quot;480&quot; y=&quot;20&quot; width=&quot;60&quot; height=&quot;75&quot; rx=&quot;8&quot; fill=&quot;#FFFEF8&quot; stroke=&quot;#C9A227&quot; strokeWidth=&quot;3&quot; /&gt;&#10;        &lt;text x=&quot;510&quot; y=&quot;52&quot; textAnchor=&quot;middle&quot; fontSize=&quot;28&quot; fontWeight=&quot;bold&quot; fill=&quot;#C9A227&quot;&gt;7&lt;/text&gt;&#10;        &lt;text x=&quot;510&quot; y=&quot;72&quot; textAnchor=&quot;middle&quot; fontSize=&quot;13&quot; fill=&quot;#C9A227&quot;&gt;万&lt;/text&gt;&#10;        &lt;text x=&quot;510&quot; y=&quot;14&quot; textAnchor=&quot;middle&quot; fontSize=&quot;11&quot; fill=&quot;#C9A227&quot; fontWeight=&quot;bold&quot;&gt;辐射到 5,6,8,9&lt;/text&gt;&#10;        {/* 连接线：2 → 1,3,4 */}&#10;        &lt;path d=&quot;M 90 95 Q 50 180 40 320&quot; fill=&quot;none&quot; stroke=&quot;#1A7F5C&quot; strokeWidth=&quot;2&quot; opacity=&quot;0.5&quot; /&gt;&#10;        &lt;path d=&quot;M 90 95 Q 130 180 170 320&quot; fill=&quot;none&quot; stroke=&quot;#1A7F5C&quot; strokeWidth=&quot;2&quot; opacity=&quot;0.5&quot; /&gt;&#10;        &lt;path d=&quot;M 90 95 Q 160 180 235 320&quot; fill=&quot;none&quot; stroke=&quot;#1A7F5C&quot; strokeWidth=&quot;2&quot; opacity=&quot;0.5&quot; /&gt;&#10;        {/* 连接线：7 → 5,6,8,9 */}&#10;        &lt;path d=&quot;M 510 95 Q 420 180 300 320&quot; fill=&quot;none&quot; stroke=&quot;#C9A227&quot; strokeWidth=&quot;2&quot; opacity=&quot;0.5&quot; /&gt;&#10;        &lt;path d=&quot;M 510 95 Q 450 180 365 320&quot; fill=&quot;none&quot; stroke=&quot;#C9A227&quot; strokeWidth=&quot;2&quot; opacity=&quot;0.5&quot; /&gt;&#10;        &lt;path d=&quot;M 510 95 Q 530 180 495 320&quot; fill=&quot;none&quot; stroke=&quot;#C9A227&quot; strokeWidth=&quot;2&quot; opacity=&quot;0.5&quot; /&gt;&#10;        &lt;path d=&quot;M 510 95 Q 560 180 560 320&quot; fill=&quot;none&quot; stroke=&quot;#C9A227&quot; strokeWidth=&quot;2&quot; opacity=&quot;0.5&quot; /&gt;&#10;        {/* 中间：可组成的顺子 */}&#10;        &lt;text x=&quot;300&quot; y=&quot;170&quot; textAnchor=&quot;middle&quot; fontSize=&quot;13&quot; fill=&quot;#999&quot;&gt;2 能组 123、234&lt;/text&gt;&#10;        &lt;text x=&quot;300&quot; y=&quot;190&quot; textAnchor=&quot;middle&quot; fontSize=&quot;13&quot; fill=&quot;#999&quot;&gt;7 能组 567、678、789&lt;/text&gt;&#10;        {/* 底部：1-9 全覆盖 */}&#10;        {(() =&gt; { const nums = [1,2,3,4,5,6,7,8,9]; const xs = [40,105,170,235,300,365,430,495,560]; return nums.map((n,i) =&gt; (&#10;          &lt;g key={i}&gt;&#10;            &lt;rect x={xs[i]-22} y=&quot;310&quot; width=&quot;44&quot; height=&quot;56&quot; rx=&quot;6&quot; fill=&quot;#F0FBF5&quot; stroke=&quot;#1A7F5C&quot; strokeWidth=&quot;1.5&quot; /&gt;&#10;            &lt;text x={xs[i]} y=&quot;338&quot; textAnchor=&quot;middle&quot; fontSize=&quot;20&quot; fontWeight=&quot;bold&quot; fill=&quot;#1A7F5C&quot;&gt;{n}&lt;/text&gt;&#10;            &lt;text x={xs[i]} y=&quot;356&quot; textAnchor=&quot;middle&quot; fontSize=&quot;11&quot; fill=&quot;#1A7F5C&quot;&gt;万&lt;/text&gt;&#10;            &lt;text x={xs[i]} y=&quot;385&quot; textAnchor=&quot;middle&quot; fontSize=&quot;10&quot; fill=&quot;#1A7F5C&quot; fontWeight=&quot;bold&quot;&gt;&#10;              {n===2||n===7 ? '锚牌' : '✓ 已覆盖'}&#10;            &lt;/text&gt;&#10;          &lt;/g&gt;&#10;        )); })()}&#10;        {/* 全覆盖标注 */}&#10;        &lt;text x=&quot;300&quot; y=&quot;395&quot; textAnchor=&quot;middle&quot; fontSize=&quot;14&quot; fontWeight=&quot;bold&quot; fill=&quot;#1A7F5C&quot;&gt;&#10;          两张牌 → 覆盖 1-9 全部数字！这就是&quot;辐射到极致&quot;&#10;        &lt;/text&gt;&#10;      &lt;/svg&gt;&#10;    &lt;/Box&gt;&#10;    {/* 右侧：文字解释 45% */}&#10;    &lt;Box style={{ flex: 45, flexDirection: 'column', gap: 14, justifyContent: 'center' }}&gt;&#10;      &lt;Box style={{ background: '#FFFEF8', borderRadius: 12, padding: 20, border: '1px solid #eee4d2' }}&gt;&#10;        &lt;Text style={{ fontSize: 20, fontWeight: 'bold', color: '#2B2B2B', marginBottom: 10 }}&gt;&#10;          什么是&lt;span style={{ color: '#8B1A1A' }}&gt;&quot;辐射&quot;&lt;/span&gt;？&#10;        &lt;/Text&gt;&#10;        &lt;Text style={{ fontSize: 16, color: '#4a4038', lineHeight: 1.8 }}&gt;&#10;          &quot;辐射&quot;就是&lt;span style={{ fontWeight: 'bold', color: '#8B1A1A' }}&gt;一张牌能和多少个数字组顺子&lt;/span&gt;的能力。&lt;br /&gt;&lt;br /&gt;&#10;          &lt;span style={{ fontWeight: 'bold', color: '#1A7F5C' }}&gt;2万&lt;/span&gt; 能组 123、234 → 辐射到 1、3、4&lt;br /&gt;&#10;          &lt;span style={{ fontWeight: 'bold', color: '#C9A227' }}&gt;7万&lt;/span&gt; 能组 567、678、789 → 辐射到 5、6、8、9&lt;br /&gt;&lt;br /&gt;&#10;          两张牌加起来 → &lt;span style={{ fontWeight: 'bold', color: '#8B1A1A' }}&gt;1-9 全部覆盖&lt;/span&gt;，只剩 2 和 7 本身（那是你手里的牌）！&#10;        &lt;/Text&gt;&#10;      &lt;/Box&gt;&#10;      &lt;Box style={{ background: '#FFF5F0', borderRadius: 12, padding: 16, border: '1px solid #f5d5c5' }}&gt;&#10;        &lt;Text style={{ fontSize: 16, fontWeight: 'bold', color: '#8B1A1A', marginBottom: 6 }}&gt;&#10;          ⚠️ 千万别拆！&#10;        &lt;/Text&gt;&#10;        &lt;Text style={{ fontSize: 15, color: '#4a4038', lineHeight: 1.7 }}&gt;&#10;          民间说法&quot;&lt;span style={{ fontWeight: 'bold' }}&gt;3、7 张不能随便打&lt;/span&gt;&quot;。一旦拆开 27/37/38，威力倍减——你的 AI 现在拆强组合会被&lt;span style={{ fontWeight: 'bold', color: '#8B1A1A' }}&gt;重罚分&lt;/span&gt;。&#10;        &lt;/Text&gt;&#10;      &lt;/Box&gt;&#10;      &lt;Box style={{ background: 'rgba(201,162,39,0.08)', borderRadius: 8, padding: 14, border: '1px solid #e8d8a8' }}&gt;&#10;        &lt;Text style={{ fontSize: 14, color: '#6b5636', lineHeight: 1.6, fontStyle: 'italic' }}&gt;&#10;          &quot;27、37、38 这 3 种组合效率最高，辐射效果都达到了极致&quot;&lt;br /&gt;&#10;          &lt;span style={{ fontSize: 12, opacity: 0.7 }}&gt;——《理论册》第 3 节 · 108 人划线（全书最高热度）&lt;/span&gt;&#10;        &lt;/Text&gt;&#10;      &lt;/Box&gt;&#10;      &lt;Box style={{ background: '#F0FBF5', borderRadius: 8, padding: 10, border: '1px solid #c3e6d3' }}&gt;&#10;        &lt;Text style={{ fontSize: 13, color: '#1A7F5C' }}&gt;&#10;          ✅ 代码实现：&lt;span style={{ fontFamily: 'monospace', fontSize: 12, background: '#e8f5ee', padding: '2px 6px', borderRadius: 4 }}&gt;isStrongCombo()&lt;/span&gt; + &lt;span style={{ fontFamily: 'monospace', fontSize: 12, background: '#e8f5ee', padding: '2px 6px', borderRadius: 4 }}&gt;brokenStrongCombos()&lt;/span&gt; 已接入复盘引擎&#10;        &lt;/Text&gt;&#10;      &lt;/Box&gt;&#10;    &lt;/Box&gt;&#10;  &lt;/Box&gt;&#10;  {/* C 页脚 */}&#10;  &lt;Box style={{ height: 40, flexDirection: 'row', justifyContent: 'flex-end', alignItems: 'center', marginTop: 12 }}&gt;&#10;    &lt;Text style={{ fontSize: 14, color: '#a0a0a0' }}&gt;08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571500" y="381000"/>
            <a:ext cx="1438275" cy="219075"/>
          </a:xfrm>
          <a:prstGeom prst="roundRect">
            <a:avLst>
              <a:gd name="adj" fmla="val 26087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1247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组合秘籍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全书最高热度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2124075" y="40957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第二章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组合秘籍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为什么</a:t>
            </a:r>
            <a:r>
              <a:rPr lang="en-US" sz="2700" b="1">
                <a:solidFill>
                  <a:srgbClr val="2B2B2B"/>
                </a:solidFill>
                <a:latin typeface="Microsoft YaHei"/>
                <a:ea typeface="Microsoft YaHei"/>
              </a:rPr>
              <a:t> </a:t>
            </a:r>
            <a:r>
              <a:rPr lang="en-US" sz="2700" b="1">
                <a:solidFill>
                  <a:srgbClr val="8B1A1A"/>
                </a:solidFill>
                <a:latin typeface="Microsoft YaHei"/>
                <a:ea typeface="Microsoft YaHei"/>
              </a:rPr>
              <a:t>27 / 37 / 38</a:t>
            </a:r>
            <a:r>
              <a:rPr lang="en-US" sz="2700" b="1">
                <a:solidFill>
                  <a:srgbClr val="2B2B2B"/>
                </a:solidFill>
                <a:latin typeface="Microsoft YaHei"/>
                <a:ea typeface="Microsoft YaHei"/>
              </a:rPr>
              <a:t> </a:t>
            </a: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最强？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71500" y="1171575"/>
            <a:ext cx="5953125" cy="4762500"/>
          </a:xfrm>
          <a:prstGeom prst="roundRect">
            <a:avLst>
              <a:gd name="adj" fmla="val 3200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62000" y="1485900"/>
            <a:ext cx="55721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以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 </a:t>
            </a:r>
            <a:r>
              <a:rPr lang="en-US" sz="1350" b="1">
                <a:solidFill>
                  <a:srgbClr val="1A7F5C"/>
                </a:solidFill>
                <a:latin typeface="Microsoft YaHei"/>
                <a:ea typeface="Microsoft YaHei"/>
              </a:rPr>
              <a:t>2</a:t>
            </a:r>
            <a:r>
              <a:rPr lang="zh-CN" sz="1350" b="1">
                <a:solidFill>
                  <a:srgbClr val="1A7F5C"/>
                </a:solidFill>
                <a:latin typeface="Microsoft YaHei"/>
                <a:ea typeface="Microsoft YaHei"/>
              </a:rPr>
              <a:t>万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 + </a:t>
            </a:r>
            <a:r>
              <a:rPr lang="en-US" sz="1350" b="1">
                <a:solidFill>
                  <a:srgbClr val="C9A227"/>
                </a:solidFill>
                <a:latin typeface="Microsoft YaHei"/>
                <a:ea typeface="Microsoft YaHei"/>
              </a:rPr>
              <a:t>7</a:t>
            </a:r>
            <a:r>
              <a:rPr lang="zh-CN" sz="1350" b="1">
                <a:solidFill>
                  <a:srgbClr val="C9A227"/>
                </a:solidFill>
                <a:latin typeface="Microsoft YaHei"/>
                <a:ea typeface="Microsoft YaHei"/>
              </a:rPr>
              <a:t>万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为例：两张牌如何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辐射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覆盖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 1-9</a:t>
            </a:r>
            <a:endParaRPr/>
          </a:p>
        </p:txBody>
      </p:sp>
      <p:pic>
        <p:nvPicPr>
          <p:cNvPr id="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809750"/>
            <a:ext cx="5715000" cy="3810000"/>
          </a:xfrm>
          <a:prstGeom prst="rect">
            <a:avLst/>
          </a:prstGeom>
          <a:ln/>
        </p:spPr>
      </p:pic>
      <p:sp>
        <p:nvSpPr>
          <p:cNvPr id="289" name=""/>
          <p:cNvSpPr/>
          <p:nvPr/>
        </p:nvSpPr>
        <p:spPr>
          <a:xfrm rot="0" flipH="0" flipV="0">
            <a:off x="6753225" y="1171575"/>
            <a:ext cx="4867275" cy="3009900"/>
          </a:xfrm>
          <a:prstGeom prst="roundRect">
            <a:avLst>
              <a:gd name="adj" fmla="val 3797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943725" y="1362075"/>
            <a:ext cx="448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B2B"/>
                </a:solidFill>
                <a:latin typeface="Microsoft YaHei"/>
                <a:ea typeface="Microsoft YaHei"/>
              </a:rPr>
              <a:t>什么是</a:t>
            </a:r>
            <a:r>
              <a:rPr lang="en-US" sz="1500" b="1">
                <a:solidFill>
                  <a:srgbClr val="8B1A1A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8B1A1A"/>
                </a:solidFill>
                <a:latin typeface="Microsoft YaHei"/>
                <a:ea typeface="Microsoft YaHei"/>
              </a:rPr>
              <a:t>辐射</a:t>
            </a:r>
            <a:r>
              <a:rPr lang="en-US" sz="1500" b="1">
                <a:solidFill>
                  <a:srgbClr val="8B1A1A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B2B2B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943725" y="1685925"/>
            <a:ext cx="4486275" cy="2305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辐射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就是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一张牌能和多少个数字组顺子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的能力。</a:t>
            </a:r>
            <a:endParaRPr/>
          </a:p>
          <a:p>
            <a:pPr>
              <a:lnSpc>
                <a:spcPct val="180000"/>
              </a:lnSpc>
            </a:pPr>
            <a:r>
              <a:rPr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en-US" sz="1200" b="1">
                <a:solidFill>
                  <a:srgbClr val="1A7F5C"/>
                </a:solidFill>
                <a:latin typeface="Microsoft YaHei"/>
                <a:ea typeface="Microsoft YaHei"/>
              </a:rPr>
              <a:t>2</a:t>
            </a:r>
            <a:r>
              <a:rPr lang="zh-CN" sz="1200" b="1">
                <a:solidFill>
                  <a:srgbClr val="1A7F5C"/>
                </a:solidFill>
                <a:latin typeface="Microsoft YaHei"/>
                <a:ea typeface="Microsoft YaHei"/>
              </a:rPr>
              <a:t>万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能组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123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234 →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辐射到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1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3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4</a:t>
            </a:r>
            <a:endParaRPr/>
          </a:p>
          <a:p>
            <a:pPr>
              <a:lnSpc>
                <a:spcPct val="180000"/>
              </a:lnSpc>
            </a:pPr>
            <a:r>
              <a:rPr lang="en-US" sz="1200" b="1">
                <a:solidFill>
                  <a:srgbClr val="C9A227"/>
                </a:solidFill>
                <a:latin typeface="Microsoft YaHei"/>
                <a:ea typeface="Microsoft YaHei"/>
              </a:rPr>
              <a:t>7</a:t>
            </a:r>
            <a:r>
              <a:rPr lang="zh-CN" sz="1200" b="1">
                <a:solidFill>
                  <a:srgbClr val="C9A227"/>
                </a:solidFill>
                <a:latin typeface="Microsoft YaHei"/>
                <a:ea typeface="Microsoft YaHei"/>
              </a:rPr>
              <a:t>万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能组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567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678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789 →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辐射到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5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6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8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9</a:t>
            </a:r>
            <a:endParaRPr/>
          </a:p>
          <a:p>
            <a:pPr>
              <a:lnSpc>
                <a:spcPct val="180000"/>
              </a:lnSpc>
            </a:pPr>
            <a:r>
              <a:rPr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两张牌加起来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→ </a:t>
            </a: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1-9 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全部覆盖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，只剩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2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本身（那是你手里的牌）！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753225" y="4314825"/>
            <a:ext cx="4867275" cy="1143000"/>
          </a:xfrm>
          <a:prstGeom prst="roundRect">
            <a:avLst>
              <a:gd name="adj" fmla="val 10000"/>
            </a:avLst>
          </a:prstGeom>
          <a:solidFill>
            <a:srgbClr val="FFF5F0"/>
          </a:solidFill>
          <a:ln w="12700">
            <a:solidFill>
              <a:srgbClr val="F5D5C5"/>
            </a:solidFill>
            <a:prstDash val="solid"/>
          </a:ln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905625" y="4467225"/>
            <a:ext cx="4562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⚠️ 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千万别拆！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905625" y="4714875"/>
            <a:ext cx="45624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民间说法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en-US" sz="1125" b="1">
                <a:solidFill>
                  <a:srgbClr val="4A4038"/>
                </a:solidFill>
                <a:latin typeface="Microsoft YaHei"/>
                <a:ea typeface="Microsoft YaHei"/>
              </a:rPr>
              <a:t>3</a:t>
            </a:r>
            <a:r>
              <a:rPr lang="zh-CN" sz="1125" b="1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125" b="1">
                <a:solidFill>
                  <a:srgbClr val="4A4038"/>
                </a:solidFill>
                <a:latin typeface="Microsoft YaHei"/>
                <a:ea typeface="Microsoft YaHei"/>
              </a:rPr>
              <a:t>7 </a:t>
            </a:r>
            <a:r>
              <a:rPr lang="zh-CN" sz="1125" b="1">
                <a:solidFill>
                  <a:srgbClr val="4A4038"/>
                </a:solidFill>
                <a:latin typeface="Microsoft YaHei"/>
                <a:ea typeface="Microsoft YaHei"/>
              </a:rPr>
              <a:t>张不能随便打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。一旦拆开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27/37/38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，威力倍减——你的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现在拆强组合会被</a:t>
            </a:r>
            <a:r>
              <a:rPr lang="zh-CN" sz="1125" b="1">
                <a:solidFill>
                  <a:srgbClr val="8B1A1A"/>
                </a:solidFill>
                <a:latin typeface="Microsoft YaHei"/>
                <a:ea typeface="Microsoft YaHei"/>
              </a:rPr>
              <a:t>重罚分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753225" y="5591175"/>
            <a:ext cx="4867275" cy="742950"/>
          </a:xfrm>
          <a:prstGeom prst="roundRect">
            <a:avLst>
              <a:gd name="adj" fmla="val 10256"/>
            </a:avLst>
          </a:prstGeom>
          <a:solidFill>
            <a:srgbClr val="C9A227">
              <a:alpha val="8000"/>
            </a:srgbClr>
          </a:solidFill>
          <a:ln w="12700">
            <a:solidFill>
              <a:srgbClr val="E8D8A8"/>
            </a:solidFill>
            <a:prstDash val="solid"/>
          </a:ln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886575" y="5724525"/>
            <a:ext cx="4600575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"27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、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37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、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38 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这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 3 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种组合效率最高，辐射效果都达到了极致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60000"/>
              </a:lnSpc>
            </a:pP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——《理论册》第</a:t>
            </a:r>
            <a:r>
              <a:rPr lang="en-US" sz="900" i="1">
                <a:solidFill>
                  <a:srgbClr val="6B5636"/>
                </a:solidFill>
                <a:latin typeface="Microsoft YaHei"/>
                <a:ea typeface="Microsoft YaHei"/>
              </a:rPr>
              <a:t> 3 </a:t>
            </a: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节</a:t>
            </a:r>
            <a:r>
              <a:rPr lang="en-US" sz="900" i="1">
                <a:solidFill>
                  <a:srgbClr val="6B5636"/>
                </a:solidFill>
                <a:latin typeface="Microsoft YaHei"/>
                <a:ea typeface="Microsoft YaHei"/>
              </a:rPr>
              <a:t> · 108 </a:t>
            </a: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人划线（全书最高热度）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753225" y="6467475"/>
            <a:ext cx="4867275" cy="342900"/>
          </a:xfrm>
          <a:prstGeom prst="roundRect">
            <a:avLst>
              <a:gd name="adj" fmla="val 22222"/>
            </a:avLst>
          </a:prstGeom>
          <a:solidFill>
            <a:srgbClr val="F0FBF5"/>
          </a:solidFill>
          <a:ln w="12700">
            <a:solidFill>
              <a:srgbClr val="C3E6D3"/>
            </a:solidFill>
            <a:prstDash val="solid"/>
          </a:ln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848475" y="6562725"/>
            <a:ext cx="467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7F5C"/>
                </a:solidFill>
                <a:latin typeface="Microsoft YaHei"/>
                <a:ea typeface="Microsoft YaHei"/>
              </a:rPr>
              <a:t>✅ </a:t>
            </a:r>
            <a:r>
              <a:rPr lang="zh-CN" sz="975">
                <a:solidFill>
                  <a:srgbClr val="1A7F5C"/>
                </a:solidFill>
                <a:latin typeface="Microsoft YaHei"/>
                <a:ea typeface="Microsoft YaHei"/>
              </a:rPr>
              <a:t>代码实现：</a:t>
            </a:r>
            <a:r>
              <a:rPr lang="en-US" sz="900">
                <a:solidFill>
                  <a:srgbClr val="1A7F5C"/>
                </a:solidFill>
                <a:highlight>
                  <a:srgbClr val="E8F5EE"/>
                </a:highlight>
                <a:latin typeface="Microsoft YaHei"/>
                <a:ea typeface="Microsoft YaHei"/>
              </a:rPr>
              <a:t>isStrongCombo()</a:t>
            </a:r>
            <a:r>
              <a:rPr lang="en-US" sz="975">
                <a:solidFill>
                  <a:srgbClr val="1A7F5C"/>
                </a:solidFill>
                <a:latin typeface="Microsoft YaHei"/>
                <a:ea typeface="Microsoft YaHei"/>
              </a:rPr>
              <a:t> + </a:t>
            </a:r>
            <a:r>
              <a:rPr lang="en-US" sz="900">
                <a:solidFill>
                  <a:srgbClr val="1A7F5C"/>
                </a:solidFill>
                <a:highlight>
                  <a:srgbClr val="E8F5EE"/>
                </a:highlight>
                <a:latin typeface="Microsoft YaHei"/>
                <a:ea typeface="Microsoft YaHei"/>
              </a:rPr>
              <a:t>brokenStrongCombos()</a:t>
            </a:r>
            <a:r>
              <a:rPr lang="en-US" sz="975">
                <a:solidFill>
                  <a:srgbClr val="1A7F5C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1A7F5C"/>
                </a:solidFill>
                <a:latin typeface="Microsoft YaHei"/>
                <a:ea typeface="Microsoft YaHei"/>
              </a:rPr>
              <a:t>已接入复盘引擎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00" name="" descr="&lt;Slide style={{&#10;  width: '1280px', height: '720px',&#10;  background: '#FAF7F2', padding: '40px 60px 20px',&#10;  flexDirection: 'column',&#10;}}&gt;&#10;  {/* A 标题区 */}&#10;  &lt;Box style={{ marginBottom: 12 }}&gt;&#10;    &lt;Box style={{ flexDirection: 'row', alignItems: 'center', gap: 12, marginBottom: 4 }}&gt;&#10;      &lt;Box style={{ background: '#1A7F5C', borderRadius: 6, padding: '4px 10px' }}&gt;&#10;        &lt;Text style={{ fontSize: 12, fontWeight: 'bold', color: '#fff' }}&gt;牌型识别&lt;/Text&gt;&#10;      &lt;/Box&gt;&#10;      &lt;Text style={{ fontSize: 14, color: '#6B6B6B' }}&gt;第二章 · 组合秘籍&lt;/Text&gt;&#10;    &lt;/Box&gt;&#10;    &lt;Text style={{ fontSize: 36, fontWeight: 'bold', color: '#2B2B2B' }}&gt;&#10;      &lt;span style={{ color: '#1A7F5C' }}&gt;四人抬轿&lt;/span&gt; vs &lt;span style={{ color: '#8B1A1A' }}&gt;7张无听&lt;/span&gt;&#10;    &lt;/Text&gt;&#10;  &lt;/Box&gt;&#10;  {/* B 内容区 - 上下分栏 */}&#10;  &lt;Box style={{ flex: 1, height: 500, flexDirection: 'column', gap: 16 }}&gt;&#10;    {/* 上：四人抬轿 */}&#10;    &lt;Box style={{ flex: 1, background: '#FFFEF8', borderRadius: 16, padding: 20, border: '1px solid #c3e6d3', flexDirection: 'row', gap: 20, alignItems: 'center' }}&gt;&#10;      &lt;Box style={{ flex: 3, flexDirection: 'column', gap: 10 }}&gt;&#10;        &lt;Box style={{ flexDirection: 'row', alignItems: 'center', gap: 10 }}&gt;&#10;          &lt;Box style={{ background: '#1A7F5C', borderRadius: 6, padding: '4px 10px' }}&gt;&#10;            &lt;Text style={{ fontSize: 12, fontWeight: 'bold', color: '#fff' }}&gt;四人抬轿 ✅ 好牌型&lt;/Text&gt;&#10;          &lt;/Box&gt;&#10;          &lt;Text style={{ fontSize: 14, color: '#1A7F5C' }}&gt;7张牌 · 含1-3对子 · 进一张就听牌&lt;/Text&gt;&#10;        &lt;/Box&gt;&#10;        &lt;svg width={580} height={70} viewBox=&quot;0 0 580 70&quot;&gt;&#10;          {/* 对子：33万 */}&#10;          &lt;rect x=&quot;10&quot; y=&quot;8&quot; width=&quot;48&quot; height=&quot;56&quot; rx=&quot;6&quot; fill=&quot;#F0FBF5&quot; stroke=&quot;#1A7F5C&quot; strokeWidth=&quot;2&quot; /&gt;&#10;          &lt;text x=&quot;34&quot; y=&quot;36&quot; textAnchor=&quot;middle&quot; fontSize=&quot;20&quot; fontWeight=&quot;bold&quot; fill=&quot;#1A7F5C&quot;&gt;3&lt;/text&gt;&#10;          &lt;text x=&quot;34&quot; y=&quot;54&quot; textAnchor=&quot;middle&quot; fontSize=&quot;11&quot; fill=&quot;#1A7F5C&quot;&gt;万&lt;/text&gt;&#10;          &lt;rect x=&quot;62&quot; y=&quot;8&quot; width=&quot;48&quot; height=&quot;56&quot; rx=&quot;6&quot; fill=&quot;#F0FBF5&quot; stroke=&quot;#1A7F5C&quot; strokeWidth=&quot;2&quot; /&gt;&#10;          &lt;text x=&quot;86&quot; y=&quot;36&quot; textAnchor=&quot;middle&quot; fontSize=&quot;20&quot; fontWeight=&quot;bold&quot; fill=&quot;#1A7F5C&quot;&gt;3&lt;/text&gt;&#10;          &lt;text x=&quot;86&quot; y=&quot;54&quot; textAnchor=&quot;middle&quot; fontSize=&quot;11&quot; fill=&quot;#1A7F5C&quot;&gt;万&lt;/text&gt;&#10;          {/* 对子：55条 */}&#10;          &lt;rect x=&quot;130&quot; y=&quot;8&quot; width=&quot;48&quot; height=&quot;56&quot; rx=&quot;6&quot; fill=&quot;#F0FBF5&quot; stroke=&quot;#1A7F5C&quot; strokeWidth=&quot;2&quot; /&gt;&#10;          &lt;text x=&quot;154&quot; y=&quot;36&quot; textAnchor=&quot;middle&quot; fontSize=&quot;20&quot; fontWeight=&quot;bold&quot; fill=&quot;#1A7F5C&quot;&gt;5&lt;/text&gt;&#10;          &lt;text x=&quot;154&quot; y=&quot;54&quot; textAnchor=&quot;middle&quot; fontSize=&quot;11&quot; fill=&quot;#1A7F5C&quot;&gt;条&lt;/text&gt;&#10;          &lt;rect x=&quot;182&quot; y=&quot;8&quot; width=&quot;48&quot; height=&quot;56&quot; rx=&quot;6&quot; fill=&quot;#F0FBF5&quot; stroke=&quot;#1A7F5C&quot; strokeWidth=&quot;2&quot; /&gt;&#10;          &lt;text x=&quot;206&quot; y=&quot;36&quot; textAnchor=&quot;middle&quot; fontSize=&quot;20&quot; fontWeight=&quot;bold&quot; fill=&quot;#1A7F5C&quot;&gt;5&lt;/text&gt;&#10;          &lt;text x=&quot;206&quot; y=&quot;54&quot; textAnchor=&quot;middle&quot; fontSize=&quot;11&quot; fill=&quot;#1A7F5C&quot;&gt;条&lt;/text&gt;&#10;          {/* 散张：2万 7条 9筒 */}&#10;          &lt;rect x=&quot;250&quot; y=&quot;8&quot; width=&quot;48&quot; height=&quot;56&quot; rx=&quot;6&quot; fill=&quot;#FFF5F0&quot; stroke=&quot;#C9A227&quot; strokeWidth=&quot;2&quot; /&gt;&#10;          &lt;text x=&quot;274&quot; y=&quot;36&quot; textAnchor=&quot;middle&quot; fontSize=&quot;20&quot; fontWeight=&quot;bold&quot; fill=&quot;#1A7F5C&quot;&gt;2&lt;/text&gt;&#10;          &lt;text x=&quot;274&quot; y=&quot;54&quot; textAnchor=&quot;middle&quot; fontSize=&quot;11&quot; fill=&quot;#1A7F5C&quot;&gt;万&lt;/text&gt;&#10;          &lt;rect x=&quot;320&quot; y=&quot;8&quot; width=&quot;48&quot; height=&quot;56&quot; rx=&quot;6&quot; fill=&quot;#FFF5F0&quot; stroke=&quot;#C9A227&quot; strokeWidth=&quot;2&quot; /&gt;&#10;          &lt;text x=&quot;344&quot; y=&quot;36&quot; textAnchor=&quot;middle&quot; fontSize=&quot;20&quot; fontWeight=&quot;bold&quot; fill=&quot;#1A7F5C&quot;&gt;7&lt;/text&gt;&#10;          &lt;text x=&quot;344&quot; y=&quot;54&quot; textAnchor=&quot;middle&quot; fontSize=&quot;11&quot; fill=&quot;#1A7F5C&quot;&gt;条&lt;/text&gt;&#10;          &lt;rect x=&quot;390&quot; y=&quot;8&quot; width=&quot;48&quot; height=&quot;56&quot; rx=&quot;6&quot; fill=&quot;#FFF5F0&quot; stroke=&quot;#C9A227&quot; strokeWidth=&quot;2&quot; /&gt;&#10;          &lt;text x=&quot;414&quot; y=&quot;36&quot; textAnchor=&quot;middle&quot; fontSize=&quot;20&quot; fontWeight=&quot;bold&quot; fill=&quot;#C0392B&quot;&gt;9&lt;/text&gt;&#10;          &lt;text x=&quot;414&quot; y=&quot;54&quot; textAnchor=&quot;middle&quot; fontSize=&quot;11&quot; fill=&quot;#C0392B&quot;&gt;筒&lt;/text&gt;&#10;          {/* 箭头+进张 */}&#10;          &lt;text x=&quot;460&quot; y=&quot;36&quot; textAnchor=&quot;middle&quot; fontSize=&quot;20&quot; fill=&quot;#8B1A1A&quot;&gt;→&lt;/text&gt;&#10;          &lt;rect x=&quot;480&quot; y=&quot;8&quot; width=&quot;48&quot; height=&quot;56&quot; rx=&quot;6&quot; fill=&quot;#FFF5F0&quot; stroke=&quot;#8B1A1A&quot; strokeWidth=&quot;2.5&quot; strokeDasharray=&quot;4&quot; /&gt;&#10;          &lt;text x=&quot;504&quot; y=&quot;36&quot; textAnchor=&quot;middle&quot; fontSize=&quot;20&quot; fontWeight=&quot;bold&quot; fill=&quot;#8B1A1A&quot;&gt;?&lt;/text&gt;&#10;          &lt;text x=&quot;504&quot; y=&quot;54&quot; textAnchor=&quot;middle&quot; fontSize=&quot;11&quot; fill=&quot;#8B1A1A&quot;&gt;进一张&lt;/text&gt;&#10;          &lt;text x=&quot;556&quot; y=&quot;36&quot; textAnchor=&quot;middle&quot; fontSize=&quot;14&quot; fill=&quot;#1A7F5C&quot; fontWeight=&quot;bold&quot;&gt;就听牌!&lt;/text&gt;&#10;        &lt;/svg&gt;&#10;        &lt;Text style={{ fontSize: 14, color: '#4a4038', lineHeight: 1.6 }}&gt;&#10;          有对子（33万、55条）+ 强连接散张（2万能组123/234，7条能组567/678/789）→ &lt;span style={{ fontWeight: 'bold', color: '#1A7F5C' }}&gt;进任何一张有用的牌就听牌&lt;/span&gt;，听牌概率非常大&#10;        &lt;/Text&gt;&#10;      &lt;/Box&gt;&#10;    &lt;/Box&gt;&#10;    {/* 下：7张无听 */}&#10;    &lt;Box style={{ flex: 1, background: '#FFFEF8', borderRadius: 16, padding: 20, border: '1px solid #f5d5c5', flexDirection: 'row', gap: 20, alignItems: 'center' }}&gt;&#10;      &lt;Box style={{ flex: 3, flexDirection: 'column', gap: 10 }}&gt;&#10;        &lt;Box style={{ flexDirection: 'row', alignItems: 'center', gap: 10 }}&gt;&#10;          &lt;Box style={{ background: '#8B1A1A', borderRadius: 6, padding: '4px 10px' }}&gt;&#10;            &lt;Text style={{ fontSize: 12, fontWeight: 'bold', color: '#fff' }}&gt;7张无听 ⚠️ 需调整&lt;/Text&gt;&#10;          &lt;/Box&gt;&#10;          &lt;Text style={{ fontSize: 14, color: '#8B1A1A' }}&gt;7张牌 · 无对子 · 一张不够&lt;/Text&gt;&#10;        &lt;/Box&gt;&#10;        &lt;svg width={580} height={70} viewBox=&quot;0 0 580 70&quot;&gt;&#10;          {/* 全散张：345万 678条 9筒 */}&#10;          &lt;rect x=&quot;10&quot; y=&quot;8&quot; width=&quot;48&quot; height=&quot;56&quot; rx=&quot;6&quot; fill=&quot;#FFF5F0&quot; stroke=&quot;#D8CBB4&quot; strokeWidth=&quot;1.5&quot; /&gt;&#10;          &lt;text x=&quot;34&quot; y=&quot;36&quot; textAnchor=&quot;middle&quot; fontSize=&quot;20&quot; fontWeight=&quot;bold&quot; fill=&quot;#1A7F5C&quot;&gt;3&lt;/text&gt;&#10;          &lt;text x=&quot;34&quot; y=&quot;54&quot; textAnchor=&quot;middle&quot; fontSize=&quot;11&quot; fill=&quot;#1A7F5C&quot;&gt;万&lt;/text&gt;&#10;          &lt;rect x=&quot;62&quot; y=&quot;8&quot; width=&quot;48&quot; height=&quot;56&quot; rx=&quot;6&quot; fill=&quot;#FFF5F0&quot; stroke=&quot;#D8CBB4&quot; strokeWidth=&quot;1.5&quot; /&gt;&#10;          &lt;text x=&quot;86&quot; y=&quot;36&quot; textAnchor=&quot;middle&quot; fontSize=&quot;20&quot; fontWeight=&quot;bold&quot; fill=&quot;#1A7F5C&quot;&gt;4&lt;/text&gt;&#10;          &lt;text x=&quot;86&quot; y=&quot;54&quot; textAnchor=&quot;middle&quot; fontSize=&quot;11&quot; fill=&quot;#1A7F5C&quot;&gt;万&lt;/text&gt;&#10;          &lt;rect x=&quot;114&quot; y=&quot;8&quot; width=&quot;48&quot; height=&quot;56&quot; rx=&quot;6&quot; fill=&quot;#FFF5F0&quot; stroke=&quot;#D8CBB4&quot; strokeWidth=&quot;1.5&quot; /&gt;&#10;          &lt;text x=&quot;138&quot; y=&quot;36&quot; textAnchor=&quot;middle&quot; fontSize=&quot;20&quot; fontWeight=&quot;bold&quot; fill=&quot;#1A7F5C&quot;&gt;5&lt;/text&gt;&#10;          &lt;text x=&quot;138&quot; y=&quot;54&quot; textAnchor=&quot;middle&quot; fontSize=&quot;11&quot; fill=&quot;#1A7F5C&quot;&gt;万&lt;/text&gt;&#10;          &lt;rect x=&quot;180&quot; y=&quot;8&quot; width=&quot;48&quot; height=&quot;56&quot; rx=&quot;6&quot; fill=&quot;#FFF5F0&quot; stroke=&quot;#D8CBB4&quot; strokeWidth=&quot;1.5&quot; /&gt;&#10;          &lt;text x=&quot;204&quot; y=&quot;36&quot; textAnchor=&quot;middle&quot; fontSize=&quot;20&quot; fontWeight=&quot;bold&quot; fill=&quot;#1A7F5C&quot;&gt;6&lt;/text&gt;&#10;          &lt;text x=&quot;204&quot; y=&quot;54&quot; textAnchor=&quot;middle&quot; fontSize=&quot;11&quot; fill=&quot;#1A7F5C&quot;&gt;条&lt;/text&gt;&#10;          &lt;rect x=&quot;232&quot; y=&quot;8&quot; width=&quot;48&quot; height=&quot;56&quot; rx=&quot;6&quot; fill=&quot;#FFF5F0&quot; stroke=&quot;#D8CBB4&quot; strokeWidth=&quot;1.5&quot; /&gt;&#10;          &lt;text x=&quot;256&quot; y=&quot;36&quot; textAnchor=&quot;middle&quot; fontSize=&quot;20&quot; fontWeight=&quot;bold&quot; fill=&quot;#1A7F5C&quot;&gt;7&lt;/text&gt;&#10;          &lt;text x=&quot;256&quot; y=&quot;54&quot; textAnchor=&quot;middle&quot; fontSize=&quot;11&quot; fill=&quot;#1A7F5C&quot;&gt;条&lt;/text&gt;&#10;          &lt;rect x=&quot;284&quot; y=&quot;8&quot; width=&quot;48&quot; height=&quot;56&quot; rx=&quot;6&quot; fill=&quot;#FFF5F0&quot; stroke=&quot;#D8CBB4&quot; strokeWidth=&quot;1.5&quot; /&gt;&#10;          &lt;text x=&quot;308&quot; y=&quot;36&quot; textAnchor=&quot;middle&quot; fontSize=&quot;20&quot; fontWeight=&quot;bold&quot; fill=&quot;#1A7F5C&quot;&gt;8&lt;/text&gt;&#10;          &lt;text x=&quot;308&quot; y=&quot;54&quot; textAnchor=&quot;middle&quot; fontSize=&quot;11&quot; fill=&quot;#1A7F5C&quot;&gt;条&lt;/text&gt;&#10;          &lt;rect x=&quot;350&quot; y=&quot;8&quot; width=&quot;48&quot; height=&quot;56&quot; rx=&quot;6&quot; fill=&quot;#FFF5F0&quot; stroke=&quot;#D8CBB4&quot; strokeWidth=&quot;1.5&quot; /&gt;&#10;          &lt;text x=&quot;374&quot; y=&quot;36&quot; textAnchor=&quot;middle&quot; fontSize=&quot;20&quot; fontWeight=&quot;bold&quot; fill=&quot;#C0392B&quot;&gt;9&lt;/text&gt;&#10;          &lt;text x=&quot;374&quot; y=&quot;54&quot; textAnchor=&quot;middle&quot; fontSize=&quot;11&quot; fill=&quot;#C0392B&quot;&gt;筒&lt;/text&gt;&#10;          &lt;text x=&quot;420&quot; y=&quot;36&quot; textAnchor=&quot;middle&quot; fontSize=&quot;20&quot; fill='#8B1A1A'&gt;→&lt;/text&gt;&#10;          &lt;rect x=&quot;440&quot; y=&quot;8&quot; width=&quot;48&quot; height=&quot;56&quot; rx=&quot;6&quot; fill='#FAF5EC' stroke='#D8CBB4' strokeWidth=&quot;1.5&quot; strokeDasharray=&quot;4&quot; /&gt;&#10;          &lt;text x=&quot;464&quot; y=&quot;36&quot; textAnchor=&quot;middle&quot; fontSize=&quot;20&quot; fontWeight=&quot;bold&quot; fill=&quot;#B8A98C&quot;&gt;?&lt;/text&gt;&#10;          &lt;text x=&quot;464&quot; y=&quot;54&quot; textAnchor=&quot;middle&quot; fontSize=&quot;11&quot; fill=&quot;#B8A98C&quot;&gt;还得找将&lt;/text&gt;&#10;          &lt;text x=&quot;516&quot; y=&quot;36&quot; textAnchor=&quot;middle&quot; fontSize=&quot;14&quot; fill=&quot;#8B1A1A&quot; fontWeight=&quot;bold&quot;&gt;差太远!&lt;/text&gt;&#10;        &lt;/svg&gt;&#10;        &lt;Text style={{ fontSize: 14, color: '#4a4038', lineHeight: 1.6 }}&gt;&#10;          没有对子（将牌），进一张不够 → 需要&quot;&lt;span style={{ fontWeight: 'bold', color: '#8B1A1A' }}&gt;找将&lt;/span&gt;&quot;才能听牌。形成秘籍：8张时&lt;span style={{ fontWeight: 'bold', color: '#C9A227' }}&gt;打掉对子的挨张&lt;/span&gt;（紧邻对子的牌）来简化结构&#10;        &lt;/Text&gt;&#10;      &lt;/Box&gt;&#10;    &lt;/Box&gt;&#10;    {/* 底部：术语解释 */}&#10;    &lt;Box style={{ background: 'rgba(201,162,39,0.08)', borderRadius: 10, padding: 14, border: '1px solid #e8d8a8' }}&gt;&#10;      &lt;Text style={{ fontSize: 15, color: '#4a4038', lineHeight: 1.7 }}&gt;&#10;        &lt;span style={{ fontWeight: 'bold', color: '#C9A227' }}&gt;什么是&quot;挨张&quot;？&lt;/span&gt; 如果你手里有对子 55万，那 4万 和 6万 就是 55万的&quot;挨张&quot;（紧挨着的邻居）。8张时打掉一个挨张 = 把&quot;55+4 的三面可能性&quot;简化成&quot;纯55对子&quot;，让牌型更清晰，更容易走向7张无听。图形应朝简单化方向走——&lt;span style={{ fontWeight: 'bold' }}&gt;能分解成四人抬轿就不要分解成7张无听&lt;/span&gt;。&#10;      &lt;/Text&gt;&#10;    &lt;/Box&gt;&#10;  &lt;/Box&gt;&#10;  {/* C 页脚 */}&#10;  &lt;Box style={{ height: 40, flexDirection: 'row', justifyContent: 'flex-end', alignItems: 'center', marginTop: 8 }}&gt;&#10;    &lt;Text style={{ fontSize: 14, color: '#a0a0a0' }}&gt;09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571500" y="3810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牌型识别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333500" y="40957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第二章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组合秘籍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7F5C"/>
                </a:solidFill>
                <a:latin typeface="Microsoft YaHei"/>
                <a:ea typeface="Microsoft YaHei"/>
              </a:rPr>
              <a:t>四人抬轿</a:t>
            </a:r>
            <a:r>
              <a:rPr lang="en-US" sz="2700" b="1">
                <a:solidFill>
                  <a:srgbClr val="2B2B2B"/>
                </a:solidFill>
                <a:latin typeface="Microsoft YaHei"/>
                <a:ea typeface="Microsoft YaHei"/>
              </a:rPr>
              <a:t> vs </a:t>
            </a:r>
            <a:r>
              <a:rPr lang="en-US" sz="2700" b="1">
                <a:solidFill>
                  <a:srgbClr val="8B1A1A"/>
                </a:solidFill>
                <a:latin typeface="Microsoft YaHei"/>
                <a:ea typeface="Microsoft YaHei"/>
              </a:rPr>
              <a:t>7</a:t>
            </a:r>
            <a:r>
              <a:rPr lang="zh-CN" sz="2700" b="1">
                <a:solidFill>
                  <a:srgbClr val="8B1A1A"/>
                </a:solidFill>
                <a:latin typeface="Microsoft YaHei"/>
                <a:ea typeface="Microsoft YaHei"/>
              </a:rPr>
              <a:t>张无听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71500" y="1171575"/>
            <a:ext cx="11049000" cy="1800225"/>
          </a:xfrm>
          <a:prstGeom prst="roundRect">
            <a:avLst>
              <a:gd name="adj" fmla="val 8466"/>
            </a:avLst>
          </a:prstGeom>
          <a:solidFill>
            <a:srgbClr val="FFFEF8"/>
          </a:solidFill>
          <a:ln w="12700">
            <a:solidFill>
              <a:srgbClr val="C3E6D3"/>
            </a:solidFill>
            <a:prstDash val="solid"/>
          </a:ln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762000" y="1409700"/>
            <a:ext cx="1171575" cy="219075"/>
          </a:xfrm>
          <a:prstGeom prst="roundRect">
            <a:avLst>
              <a:gd name="adj" fmla="val 26087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57250" y="1447800"/>
            <a:ext cx="981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四人抬轿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 ✅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好牌型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2028825" y="14382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7F5C"/>
                </a:solidFill>
                <a:latin typeface="Microsoft YaHei"/>
                <a:ea typeface="Microsoft YaHei"/>
              </a:rPr>
              <a:t>7</a:t>
            </a:r>
            <a:r>
              <a:rPr lang="zh-CN" sz="1050">
                <a:solidFill>
                  <a:srgbClr val="1A7F5C"/>
                </a:solidFill>
                <a:latin typeface="Microsoft YaHei"/>
                <a:ea typeface="Microsoft YaHei"/>
              </a:rPr>
              <a:t>张牌</a:t>
            </a:r>
            <a:r>
              <a:rPr lang="en-US" sz="1050">
                <a:solidFill>
                  <a:srgbClr val="1A7F5C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7F5C"/>
                </a:solidFill>
                <a:latin typeface="Microsoft YaHei"/>
                <a:ea typeface="Microsoft YaHei"/>
              </a:rPr>
              <a:t>含</a:t>
            </a:r>
            <a:r>
              <a:rPr lang="en-US" sz="1050">
                <a:solidFill>
                  <a:srgbClr val="1A7F5C"/>
                </a:solidFill>
                <a:latin typeface="Microsoft YaHei"/>
                <a:ea typeface="Microsoft YaHei"/>
              </a:rPr>
              <a:t>1-3</a:t>
            </a:r>
            <a:r>
              <a:rPr lang="zh-CN" sz="1050">
                <a:solidFill>
                  <a:srgbClr val="1A7F5C"/>
                </a:solidFill>
                <a:latin typeface="Microsoft YaHei"/>
                <a:ea typeface="Microsoft YaHei"/>
              </a:rPr>
              <a:t>对子</a:t>
            </a:r>
            <a:r>
              <a:rPr lang="en-US" sz="1050">
                <a:solidFill>
                  <a:srgbClr val="1A7F5C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7F5C"/>
                </a:solidFill>
                <a:latin typeface="Microsoft YaHei"/>
                <a:ea typeface="Microsoft YaHei"/>
              </a:rPr>
              <a:t>进一张就听牌</a:t>
            </a:r>
            <a:endParaRPr/>
          </a:p>
        </p:txBody>
      </p:sp>
      <p:pic>
        <p:nvPicPr>
          <p:cNvPr id="3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724025"/>
            <a:ext cx="5524500" cy="666750"/>
          </a:xfrm>
          <a:prstGeom prst="rect">
            <a:avLst/>
          </a:prstGeom>
          <a:ln/>
        </p:spPr>
      </p:pic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62000" y="2486025"/>
            <a:ext cx="10668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有对子（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33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万、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55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条）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+ 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强连接散张（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万能组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123/234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7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条能组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567/678/789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）→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050" b="1">
                <a:solidFill>
                  <a:srgbClr val="1A7F5C"/>
                </a:solidFill>
                <a:latin typeface="Microsoft YaHei"/>
                <a:ea typeface="Microsoft YaHei"/>
              </a:rPr>
              <a:t>进任何一张有用的牌就听牌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，听牌概率非常大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71500" y="3124200"/>
            <a:ext cx="11049000" cy="1800225"/>
          </a:xfrm>
          <a:prstGeom prst="roundRect">
            <a:avLst>
              <a:gd name="adj" fmla="val 8466"/>
            </a:avLst>
          </a:prstGeom>
          <a:solidFill>
            <a:srgbClr val="FFFEF8"/>
          </a:solidFill>
          <a:ln w="12700">
            <a:solidFill>
              <a:srgbClr val="F5D5C5"/>
            </a:solidFill>
            <a:prstDash val="solid"/>
          </a:ln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762000" y="3362325"/>
            <a:ext cx="1123950" cy="219075"/>
          </a:xfrm>
          <a:prstGeom prst="roundRect">
            <a:avLst>
              <a:gd name="adj" fmla="val 26087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57250" y="3400425"/>
            <a:ext cx="933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张无听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 ⚠️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需调整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981200" y="33909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1A1A"/>
                </a:solidFill>
                <a:latin typeface="Microsoft YaHei"/>
                <a:ea typeface="Microsoft YaHei"/>
              </a:rPr>
              <a:t>7</a:t>
            </a:r>
            <a:r>
              <a:rPr lang="zh-CN" sz="1050">
                <a:solidFill>
                  <a:srgbClr val="8B1A1A"/>
                </a:solidFill>
                <a:latin typeface="Microsoft YaHei"/>
                <a:ea typeface="Microsoft YaHei"/>
              </a:rPr>
              <a:t>张牌</a:t>
            </a:r>
            <a:r>
              <a:rPr lang="en-US" sz="1050">
                <a:solidFill>
                  <a:srgbClr val="8B1A1A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1A1A"/>
                </a:solidFill>
                <a:latin typeface="Microsoft YaHei"/>
                <a:ea typeface="Microsoft YaHei"/>
              </a:rPr>
              <a:t>无对子</a:t>
            </a:r>
            <a:r>
              <a:rPr lang="en-US" sz="1050">
                <a:solidFill>
                  <a:srgbClr val="8B1A1A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1A1A"/>
                </a:solidFill>
                <a:latin typeface="Microsoft YaHei"/>
                <a:ea typeface="Microsoft YaHei"/>
              </a:rPr>
              <a:t>一张不够</a:t>
            </a:r>
            <a:endParaRPr/>
          </a:p>
        </p:txBody>
      </p:sp>
      <p:pic>
        <p:nvPicPr>
          <p:cNvPr id="3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3676650"/>
            <a:ext cx="5524500" cy="666750"/>
          </a:xfrm>
          <a:prstGeom prst="rect">
            <a:avLst/>
          </a:prstGeom>
          <a:ln/>
        </p:spPr>
      </p:pic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62000" y="4438650"/>
            <a:ext cx="10668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没有对子（将牌），进一张不够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需要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8B1A1A"/>
                </a:solidFill>
                <a:latin typeface="Microsoft YaHei"/>
                <a:ea typeface="Microsoft YaHei"/>
              </a:rPr>
              <a:t>找将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才能听牌。形成秘籍：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8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张时</a:t>
            </a:r>
            <a:r>
              <a:rPr lang="zh-CN" sz="1050" b="1">
                <a:solidFill>
                  <a:srgbClr val="C9A227"/>
                </a:solidFill>
                <a:latin typeface="Microsoft YaHei"/>
                <a:ea typeface="Microsoft YaHei"/>
              </a:rPr>
              <a:t>打掉对子的挨张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（紧邻对子的牌）来简化结构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571500" y="5076825"/>
            <a:ext cx="11049000" cy="857250"/>
          </a:xfrm>
          <a:prstGeom prst="roundRect">
            <a:avLst>
              <a:gd name="adj" fmla="val 11111"/>
            </a:avLst>
          </a:prstGeom>
          <a:solidFill>
            <a:srgbClr val="C9A227">
              <a:alpha val="8000"/>
            </a:srgbClr>
          </a:solidFill>
          <a:ln w="12700">
            <a:solidFill>
              <a:srgbClr val="E8D8A8"/>
            </a:solidFill>
            <a:prstDash val="solid"/>
          </a:ln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04850" y="5210175"/>
            <a:ext cx="1078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C9A227"/>
                </a:solidFill>
                <a:latin typeface="Microsoft YaHei"/>
                <a:ea typeface="Microsoft YaHei"/>
              </a:rPr>
              <a:t>什么是</a:t>
            </a:r>
            <a:r>
              <a:rPr lang="en-US" sz="1125" b="1">
                <a:solidFill>
                  <a:srgbClr val="C9A227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C9A227"/>
                </a:solidFill>
                <a:latin typeface="Microsoft YaHei"/>
                <a:ea typeface="Microsoft YaHei"/>
              </a:rPr>
              <a:t>挨张</a:t>
            </a:r>
            <a:r>
              <a:rPr lang="en-US" sz="1125" b="1">
                <a:solidFill>
                  <a:srgbClr val="C9A227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C9A227"/>
                </a:solidFill>
                <a:latin typeface="Microsoft YaHei"/>
                <a:ea typeface="Microsoft YaHei"/>
              </a:rPr>
              <a:t>？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如果你手里有对子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55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万，那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4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万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和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6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万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就是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55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万的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挨张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（紧挨着的邻居）。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8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张时打掉一个挨张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=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把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"55+4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的三面可能性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简化成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纯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55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对子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，让牌型更清晰，更容易走向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7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张无听。图形应朝简单化方向走——</a:t>
            </a:r>
            <a:r>
              <a:rPr lang="zh-CN" sz="1125" b="1">
                <a:solidFill>
                  <a:srgbClr val="4A4038"/>
                </a:solidFill>
                <a:latin typeface="Microsoft YaHei"/>
                <a:ea typeface="Microsoft YaHei"/>
              </a:rPr>
              <a:t>能分解成四人抬轿就不要分解成</a:t>
            </a:r>
            <a:r>
              <a:rPr lang="en-US" sz="1125" b="1">
                <a:solidFill>
                  <a:srgbClr val="4A4038"/>
                </a:solidFill>
                <a:latin typeface="Microsoft YaHei"/>
                <a:ea typeface="Microsoft YaHei"/>
              </a:rPr>
              <a:t>7</a:t>
            </a:r>
            <a:r>
              <a:rPr lang="zh-CN" sz="1125" b="1">
                <a:solidFill>
                  <a:srgbClr val="4A4038"/>
                </a:solidFill>
                <a:latin typeface="Microsoft YaHei"/>
                <a:ea typeface="Microsoft YaHei"/>
              </a:rPr>
              <a:t>张无听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" name="" descr="&lt;Slide style={{&#10;  width: '1280px', height: '720px',&#10;  background: 'linear-gradient(135deg, #8B1A1A 0%, #5C0E0E 50%, #8B1A1A 100%)',&#10;  padding: '60px', flexDirection: 'column', justifyContent: 'center', alignItems: 'center',&#10;  position: 'relative', overflow: 'hidden',&#10;}}&gt;&#10;  &lt;svg width={600} height={600} viewBox=&quot;0 0 600 600&quot; style={{ position: 'absolute', right: 0, top: 0, opacity: 0.06 }}&gt;&#10;    &lt;rect x=&quot;100&quot; y=&quot;100&quot; width=&quot;400&quot; height=&quot;400&quot; rx=&quot;20&quot; fill=&quot;none&quot; stroke=&quot;#fff&quot; strokeWidth=&quot;2&quot; /&gt;&#10;    &lt;rect x=&quot;150&quot; y=&quot;150&quot; width=&quot;300&quot; height=&quot;300&quot; rx=&quot;15&quot; fill=&quot;none&quot; stroke=&quot;#fff&quot; strokeWidth=&quot;2&quot; /&gt;&#10;  &lt;/svg&gt;&#10;  &lt;Box style={{ marginBottom: 16 }}&gt;&#10;    &lt;Text style={{ fontSize: 20, color: '#C9A227', letterSpacing: 6 }}&gt;CHAPTER 03&lt;/Text&gt;&#10;  &lt;/Box&gt;&#10;  &lt;Text style={{ fontSize: 80, fontWeight: 'bold', color: '#FDF6EC', marginBottom: 16 }}&gt;&#10;    攻防战术&#10;  &lt;/Text&gt;&#10;  &lt;Text style={{ fontSize: 28, color: '#F3D9B5', marginBottom: 24 }}&gt;&#10;    开局到尾盘的生存法则&#10;  &lt;/Text&gt;&#10;  &lt;Box style={{ maxWidth: 680, textAlign: 'center' }}&gt;&#10;    &lt;Text style={{ fontSize: 18, color: '#E8C98A', lineHeight: 1.8 }}&gt;&#10;      &quot;先打生张，后打熟张。先打单张，后打双张&quot;&lt;br /&gt;&#10;      &lt;span style={{ fontSize: 14, opacity: 0.7 }}&gt;——《成都册》第 3 节 · 140 人划线（全书最高热度）&lt;/span&gt;&#10;    &lt;/Text&gt;&#10;  &lt;/Box&gt;&#10;  &lt;Box style={{ position: 'absolute', bottom: 30, right: 60 }}&gt;&#10;    &lt;Text style={{ fontSize: 14, color: '#E8C98A', opacity: 0.5 }}&gt;10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1A1A"/>
              </a:gs>
              <a:gs pos="50000">
                <a:srgbClr val="5C0E0E"/>
              </a:gs>
              <a:gs pos="100000">
                <a:srgbClr val="8B1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219700" y="2095500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C9A227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72000" y="2476500"/>
            <a:ext cx="30480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0" b="1">
                <a:solidFill>
                  <a:srgbClr val="FDF6EC"/>
                </a:solidFill>
                <a:latin typeface="Microsoft YaHei"/>
                <a:ea typeface="Microsoft YaHei"/>
              </a:rPr>
              <a:t>攻防战术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762500" y="3543300"/>
            <a:ext cx="2667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F3D9B5"/>
                </a:solidFill>
                <a:latin typeface="Microsoft YaHei"/>
                <a:ea typeface="Microsoft YaHei"/>
              </a:rPr>
              <a:t>开局到尾盘的生存法则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410075" y="4095750"/>
            <a:ext cx="3381375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先打生张，后打熟张。先打单张，后打双张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——《成都册》第</a:t>
            </a:r>
            <a:r>
              <a:rPr lang="en-US" sz="1050">
                <a:solidFill>
                  <a:srgbClr val="E8C98A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节</a:t>
            </a:r>
            <a:r>
              <a:rPr lang="en-US" sz="1050">
                <a:solidFill>
                  <a:srgbClr val="E8C98A"/>
                </a:solidFill>
                <a:latin typeface="Microsoft YaHei"/>
                <a:ea typeface="Microsoft YaHei"/>
              </a:rPr>
              <a:t> · 140 </a:t>
            </a: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人划线（全书最高热度）</a:t>
            </a:r>
            <a:endParaRPr/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alphaModFix amt="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0" y="0"/>
            <a:ext cx="5715000" cy="5715000"/>
          </a:xfrm>
          <a:prstGeom prst="rect">
            <a:avLst/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210925" y="6410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C98A">
                    <a:alpha val="50000"/>
                  </a:srgbClr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1" name="" descr="&lt;Slide style={{&#10;  width: '1280px', height: '720px',&#10;  background: '#FAF7F2', padding: '40px 60px 20px',&#10;  flexDirection: 'column',&#10;}}&gt;&#10;  {/* A 标题区 */}&#10;  &lt;Box style={{ marginBottom: 12 }}&gt;&#10;    &lt;Box style={{ flexDirection: 'row', alignItems: 'center', gap: 12, marginBottom: 4 }}&gt;&#10;      &lt;Box style={{ background: '#8B1A1A', borderRadius: 6, padding: '4px 10px' }}&gt;&#10;        &lt;Text style={{ fontSize: 12, fontWeight: 'bold', color: '#fff' }}&gt;防守核心&lt;/Text&gt;&#10;      &lt;/Box&gt;&#10;      &lt;Text style={{ fontSize: 14, color: '#6B6B6B' }}&gt;第三章 · 攻防战术&lt;/Text&gt;&#10;    &lt;/Box&gt;&#10;    &lt;Text style={{ fontSize: 36, fontWeight: 'bold', color: '#2B2B2B' }}&gt;&#10;      什么是&lt;span style={{ color: '#8B1A1A' }}&gt;踩线&lt;/span&gt;？&#10;    &lt;/Text&gt;&#10;  &lt;/Box&gt;&#10;  {/* B 内容区 - 非对称双栏 55:45 */}&#10;  &lt;Box style={{ flexDirection: 'row', gap: 24, flex: 1, height: 500 }}&gt;&#10;    {/* 左侧：SVG 线路图 55% */}&#10;    &lt;Box style={{ flex: 55, background: '#FFFEF8', borderRadius: 16, padding: 24, border: '1px solid #eee4d2', flexDirection: 'column', justifyContent: 'center', gap: 16 }}&gt;&#10;      &lt;Text style={{ fontSize: 18, fontWeight: 'bold', color: '#3a2a1a', textAlign: 'center' }}&gt;&#10;        1-9 按模 3 分成三条&quot;线&quot;&#10;      &lt;/Text&gt;&#10;      &lt;svg width={560} height={340} viewBox=&quot;0 0 560 340&quot;&gt;&#10;        {/* 第一条线：1-4-7（红色线） */}&#10;        &lt;line x1=&quot;30&quot; y1=&quot;50&quot; x2=&quot;530&quot; y2=&quot;50&quot; stroke=&quot;#8B1A1A&quot; strokeWidth=&quot;2&quot; opacity=&quot;0.4&quot; /&gt;&#10;        &lt;text x=&quot;15&quot; y=&quot;54&quot; textAnchor=&quot;middle&quot; fontSize=&quot;12&quot; fill=&quot;#8B1A1A&quot; fontWeight=&quot;bold&quot;&gt;线1&lt;/text&gt;&#10;        &lt;rect x=&quot;50&quot; y=&quot;20&quot; width=&quot;50&quot; height=&quot;60&quot; rx=&quot;6&quot; fill=&quot;#FFF5F0&quot; stroke=&quot;#8B1A1A&quot; strokeWidth=&quot;2&quot; /&gt;&#10;        &lt;text x=&quot;75&quot; y=&quot;48&quot; textAnchor=&quot;middle&quot; fontSize=&quot;22&quot; fontWeight=&quot;bold&quot; fill=&quot;#1A7F5C&quot;&gt;1&lt;/text&gt;&#10;        &lt;text x=&quot;75&quot; y=&quot;66&quot; textAnchor=&quot;middle&quot; fontSize=&quot;12&quot; fill=&quot;#1A7F5C&quot;&gt;万&lt;/text&gt;&#10;        &lt;rect x=&quot;260&quot; y=&quot;20&quot; width=&quot;50&quot; height=&quot;60&quot; rx=&quot;6&quot; fill=&quot;#FFF5F0&quot; stroke=&quot;#8B1A1A&quot; strokeWidth=&quot;2&quot; /&gt;&#10;        &lt;text x=&quot;285&quot; y=&quot;48&quot; textAnchor=&quot;middle&quot; fontSize=&quot;22&quot; fontWeight=&quot;bold&quot; fill=&quot;#1A7F5C&quot;&gt;4&lt;/text&gt;&#10;        &lt;text x=&quot;285&quot; y=&quot;66&quot; textAnchor=&quot;middle&quot; fontSize=&quot;12&quot; fill=&quot;#1A7F5C&quot;&gt;万&lt;/text&gt;&#10;        &lt;rect x=&quot;470&quot; y=&quot;20&quot; width=&quot;50&quot; height=&quot;60&quot; rx=&quot;6&quot; fill=&quot;#FFF5F0&quot; stroke=&quot;#8B1A1A&quot; strokeWidth=&quot;2&quot; /&gt;&#10;        &lt;text x=&quot;495&quot; y=&quot;48&quot; textAnchor=&quot;middle&quot; fontSize=&quot;22&quot; fontWeight=&quot;bold&quot; fill=&quot;#1A7F5C&quot;&gt;7&lt;/text&gt;&#10;        &lt;text x=&quot;495&quot; y=&quot;66&quot; textAnchor=&quot;middle&quot; fontSize=&quot;12&quot; fill=&quot;#1A7F5C&quot;&gt;万&lt;/text&gt;&#10;        &lt;text x=&quot;200&quot; y=&quot;54&quot; textAnchor=&quot;middle&quot; fontSize=&quot;12&quot; fill=&quot;#8B1A1A&quot; opacity=&quot;0.6&quot;&gt;← 同线 →&lt;/text&gt;&#10;        &lt;text x=&quot;400&quot; y=&quot;54&quot; textAnchor=&quot;middle&quot; fontSize=&quot;12&quot; fill=&quot;#8B1A1A&quot; opacity=&quot;0.6&quot;&gt;← 同线 →&lt;/text&gt;&#10;&#10;        {/* 第二条线：2-5-8（金色线） */}&#10;        &lt;line x1=&quot;30&quot; y1=&quot;160&quot; x2=&quot;530&quot; y2=&quot;160&quot; stroke=&quot;#C9A227&quot; strokeWidth=&quot;2&quot; opacity=&quot;0.4&quot; /&gt;&#10;        &lt;text x=&quot;15&quot; y=&quot;164&quot; textAnchor=&quot;middle&quot; fontSize=&quot;12&quot; fill=&quot;#C9A227&quot; fontWeight=&quot;bold&quot;&gt;线2&lt;/text&gt;&#10;        &lt;rect x=&quot;130&quot; y=&quot;130&quot; width=&quot;50&quot; height=&quot;60&quot; rx=&quot;6&quot; fill=&quot;#FFF8E8&quot; stroke=&quot;#C9A227&quot; strokeWidth=&quot;2&quot; /&gt;&#10;        &lt;text x=&quot;155&quot; y=&quot;158&quot; textAnchor=&quot;middle&quot; fontSize=&quot;22&quot; fontWeight=&quot;bold&quot; fill=&quot;#1A7F5C&quot;&gt;2&lt;/text&gt;&#10;        &lt;text x=&quot;155&quot; y=&quot;176&quot; textAnchor=&quot;middle&quot; fontSize=&quot;12&quot; fill=&quot;#1A7F5C&quot;&gt;万&lt;/text&gt;&#10;        &lt;rect x=&quot;340&quot; y=&quot;130&quot; width=&quot;50&quot; height=&quot;60&quot; rx=&quot;6&quot; fill=&quot;#FFF8E8&quot; stroke=&quot;#C9A227&quot; strokeWidth=&quot;2&quot; /&gt;&#10;        &lt;text x=&quot;365&quot; y=&quot;158&quot; textAnchor=&quot;middle&quot; fontSize=&quot;22&quot; fontWeight=&quot;bold&quot; fill=&quot;#1A7F5C&quot;&gt;5&lt;/text&gt;&#10;        &lt;text x=&quot;365&quot; y=&quot;176&quot; textAnchor=&quot;middle&quot; fontSize=&quot;12&quot; fill=&quot;#1A7F5C&quot;&gt;万&lt;/text&gt;&#10;        &lt;rect x=&quot;420&quot; y=&quot;130&quot; width=&quot;50&quot; height=&quot;60&quot; rx=&quot;6&quot; fill=&quot;#FFF8E8&quot; stroke=&quot;#C9A227&quot; strokeWidth=&quot;2&quot; /&gt;&#10;        &lt;text x=&quot;445&quot; y=&quot;158&quot; textAnchor=&quot;middle&quot; fontSize=&quot;22&quot; fontWeight=&quot;bold&quot; fill=&quot;#1A7F5C&quot;&gt;8&lt;/text&gt;&#10;        &lt;text x=&quot;445&quot; y=&quot;176&quot; textAnchor=&quot;middle&quot; fontSize=&quot;12&quot; fill=&quot;#1A7F5C&quot;&gt;万&lt;/text&gt;&#10;        &lt;text x=&quot;250&quot; y=&quot;164&quot; textAnchor=&quot;middle&quot; fontSize=&quot;12&quot; fill=&quot;#C9A227&quot; opacity=&quot;0.6&quot;&gt;← 同线 →&lt;/text&gt;&#10;&#10;        {/* 第三条线：3-6-9（绿色线） */}&#10;        &lt;line x1=&quot;30&quot; y1=&quot;270&quot; x2=&quot;530&quot; y2=&quot;270&quot; stroke=&quot;#1A7F5C&quot; strokeWidth=&quot;2&quot; opacity=&quot;0.4&quot; /&gt;&#10;        &lt;text x=&quot;15&quot; y=&quot;274&quot; textAnchor=&quot;middle&quot; fontSize=&quot;12&quot; fill=&quot;#1A7F5C&quot; fontWeight=&quot;bold&quot;&gt;线3&lt;/text&gt;&#10;        &lt;rect x=&quot;210&quot; y=&quot;240&quot; width=&quot;50&quot; height=&quot;60&quot; rx=&quot;6&quot; fill=&quot;#F0FBF5&quot; stroke=&quot;#1A7F5C&quot; strokeWidth=&quot;2&quot; /&gt;&#10;        &lt;text x=&quot;235&quot; y=&quot;268&quot; textAnchor=&quot;middle&quot; fontSize=&quot;22&quot; fontWeight=&quot;bold&quot; fill=&quot;#1A7F5C&quot;&gt;3&lt;/text&gt;&#10;        &lt;text x=&quot;235&quot; y=&quot;286&quot; textAnchor=&quot;middle&quot; fontSize=&quot;12&quot; fill=&quot;#1A7F5C&quot;&gt;万&lt;/text&gt;&#10;        &lt;rect x=&quot;370&quot; y=&quot;240&quot; width=&quot;50&quot; height=&quot;60&quot; rx=&quot;6&quot; fill=&quot;#F0FBF5&quot; stroke=&quot;#1A7F5C&quot; strokeWidth=&quot;2&quot; /&gt;&#10;        &lt;text x=&quot;395&quot; y=&quot;268&quot; textAnchor=&quot;middle&quot; fontSize=&quot;22&quot; fontWeight=&quot;bold&quot; fill=&quot;#1A7F5C&quot;&gt;6&lt;/text&gt;&#10;        &lt;text x=&quot;395&quot; y=&quot;286&quot; textAnchor=&quot;middle&quot; fontSize=&quot;12&quot; fill=&quot;#1A7F5C&quot;&gt;万&lt;/text&gt;&#10;        &lt;rect x=&quot;500&quot; y=&quot;240&quot; width=&quot;50&quot; height=&quot;60&quot; rx=&quot;6&quot; fill=&quot;#F0FBF5&quot; stroke=&quot;#1A7F5C&quot; strokeWidth=&quot;2&quot; /&gt;&#10;        &lt;text x=&quot;525&quot; y=&quot;268&quot; textAnchor=&quot;middle&quot; fontSize=&quot;22&quot; fontWeight=&quot;bold&quot; fill=&quot;#1A7F5C&quot;&gt;9&lt;/text&gt;&#10;        &lt;text x=&quot;525&quot; y=&quot;286&quot; textAnchor=&quot;middle&quot; fontSize=&quot;12&quot; fill=&quot;#1A7F5C&quot;&gt;万&lt;/text&gt;&#10;        &lt;text x=&quot;320&quot; y=&quot;274&quot; textAnchor=&quot;middle&quot; fontSize=&quot;12&quot; fill=&quot;#1A7F5C&quot; opacity=&quot;0.6&quot;&gt;← 同线 →&lt;/text&gt;&#10;&#10;        {/* 安全标注 */}&#10;        &lt;text x=&quot;280&quot; y=&quot;320&quot; textAnchor=&quot;middle&quot; fontSize=&quot;14&quot; fill=&quot;#8B1A1A&quot; fontWeight=&quot;bold&quot;&gt;&#10;          别人打了 1 → 同线的 4、7 更安全（组顺子时互相&quot;竞争&quot;）&#10;        &lt;/text&gt;&#10;      &lt;/svg&gt;&#10;    &lt;/Box&gt;&#10;    {/* 右侧：文字解释 45% */}&#10;    &lt;Box style={{ flex: 45, flexDirection: 'column', gap: 14, justifyContent: 'center' }}&gt;&#10;      &lt;Box style={{ background: '#FFFEF8', borderRadius: 12, padding: 20, border: '1px solid #eee4d2' }}&gt;&#10;        &lt;Text style={{ fontSize: 20, fontWeight: 'bold', color: '#2B2B2B', marginBottom: 10 }}&gt;&#10;          踩线 = 跟着同线牌出牌&#10;        &lt;/Text&gt;&#10;        &lt;Text style={{ fontSize: 16, color: '#4a4038', lineHeight: 1.8 }}&gt;&#10;          &lt;span style={{ fontWeight: 'bold', color: '#8B1A1A' }}&gt;1-4-7&lt;/span&gt; 一条线，&lt;span style={{ fontWeight: 'bold', color: '#C9A227' }}&gt;2-5-8&lt;/span&gt; 一条线，&lt;span style={{ fontWeight: 'bold', color: '#1A7F5C' }}&gt;3-6-9&lt;/span&gt; 一条线。&lt;br /&gt;&lt;br /&gt;&#10;          原理：同一条线上的牌，在组顺子时会&lt;span style={{ fontWeight: 'bold', color: '#8B1A1A' }}&gt;互相&quot;竞争&quot;&lt;/span&gt;——你需要 123，就不太可能同时还需要 456（因为 234 已经占用了 2 和 3）。所以别人打了 1，同线的 4、7 相对安全。&#10;        &lt;/Text&gt;&#10;      &lt;/Box&gt;&#10;      &lt;Box style={{ background: '#FFF5F0', borderRadius: 12, padding: 16, border: '1px solid #f5d5c5' }}&gt;&#10;        &lt;Text style={{ fontSize: 16, fontWeight: 'bold', color: '#8B1A1A', marginBottom: 6 }}&gt;&#10;          🛡️ 尾盘安全铁律&#10;        &lt;/Text&gt;&#10;        &lt;Text style={{ fontSize: 15, color: '#4a4038', lineHeight: 1.7 }}&gt;&#10;          &lt;span style={{ fontWeight: 'bold' }}&gt;打熟不打生&lt;/span&gt;：跟上家 &amp;gt; 对家 &amp;gt; 下家&lt;br /&gt;&#10;          &lt;span style={{ fontWeight: 'bold' }}&gt;尾盘打边张&lt;/span&gt;：7万比4万安全&lt;br /&gt;&#10;          &lt;span style={{ fontWeight: 'bold' }}&gt;听在碰过的牌上&lt;/span&gt;：别人碰过的牌再出来的概率低&#10;        &lt;/Text&gt;&#10;      &lt;/Box&gt;&#10;      &lt;Box style={{ background: 'rgba(201,162,39,0.08)', borderRadius: 8, padding: 14, border: '1px solid #e8d8a8' }}&gt;&#10;        &lt;Text style={{ fontSize: 14, color: '#6b5636', lineHeight: 1.6, fontStyle: 'italic' }}&gt;&#10;          &quot;跟着1、4、7这样的线打牌，避免放炮的意思&quot;&lt;br /&gt;&#10;          &lt;span style={{ fontSize: 12, opacity: 0.7 }}&gt;——《理论册》第 4 节 · 70 人划线&lt;/span&gt;&#10;        &lt;/Text&gt;&#10;      &lt;/Box&gt;&#10;    &lt;/Box&gt;&#10;  &lt;/Box&gt;&#10;  {/* C 页脚 */}&#10;  &lt;Box style={{ height: 40, flexDirection: 'row', justifyContent: 'flex-end', alignItems: 'center', marginTop: 12 }}&gt;&#10;    &lt;Text style={{ fontSize: 14, color: '#a0a0a0' }}&gt;11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571500" y="3810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防守核心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333500" y="40957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第三章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攻防战术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什么是</a:t>
            </a:r>
            <a:r>
              <a:rPr lang="zh-CN" sz="2700" b="1">
                <a:solidFill>
                  <a:srgbClr val="8B1A1A"/>
                </a:solidFill>
                <a:latin typeface="Microsoft YaHei"/>
                <a:ea typeface="Microsoft YaHei"/>
              </a:rPr>
              <a:t>踩线</a:t>
            </a: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71500" y="1171575"/>
            <a:ext cx="5953125" cy="4762500"/>
          </a:xfrm>
          <a:prstGeom prst="roundRect">
            <a:avLst>
              <a:gd name="adj" fmla="val 3200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00100" y="1752600"/>
            <a:ext cx="54959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1-9 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按模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 3 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分成三条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线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2114550"/>
            <a:ext cx="5334000" cy="323850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753225" y="1171575"/>
            <a:ext cx="4867275" cy="2352675"/>
          </a:xfrm>
          <a:prstGeom prst="roundRect">
            <a:avLst>
              <a:gd name="adj" fmla="val 4858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943725" y="1362075"/>
            <a:ext cx="448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B2B"/>
                </a:solidFill>
                <a:latin typeface="Microsoft YaHei"/>
                <a:ea typeface="Microsoft YaHei"/>
              </a:rPr>
              <a:t>踩线</a:t>
            </a:r>
            <a:r>
              <a:rPr lang="en-US" sz="1500" b="1">
                <a:solidFill>
                  <a:srgbClr val="2B2B2B"/>
                </a:solidFill>
                <a:latin typeface="Microsoft YaHei"/>
                <a:ea typeface="Microsoft YaHei"/>
              </a:rPr>
              <a:t> = </a:t>
            </a:r>
            <a:r>
              <a:rPr lang="zh-CN" sz="1500" b="1">
                <a:solidFill>
                  <a:srgbClr val="2B2B2B"/>
                </a:solidFill>
                <a:latin typeface="Microsoft YaHei"/>
                <a:ea typeface="Microsoft YaHei"/>
              </a:rPr>
              <a:t>跟着同线牌出牌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943725" y="1685925"/>
            <a:ext cx="4486275" cy="1647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1-4-7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一条线，</a:t>
            </a:r>
            <a:r>
              <a:rPr lang="en-US" sz="1200" b="1">
                <a:solidFill>
                  <a:srgbClr val="C9A227"/>
                </a:solidFill>
                <a:latin typeface="Microsoft YaHei"/>
                <a:ea typeface="Microsoft YaHei"/>
              </a:rPr>
              <a:t>2-5-8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一条线，</a:t>
            </a:r>
            <a:r>
              <a:rPr lang="en-US" sz="1200" b="1">
                <a:solidFill>
                  <a:srgbClr val="1A7F5C"/>
                </a:solidFill>
                <a:latin typeface="Microsoft YaHei"/>
                <a:ea typeface="Microsoft YaHei"/>
              </a:rPr>
              <a:t>3-6-9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一条线。</a:t>
            </a:r>
            <a:endParaRPr/>
          </a:p>
          <a:p>
            <a:pPr>
              <a:lnSpc>
                <a:spcPct val="180000"/>
              </a:lnSpc>
            </a:pPr>
            <a:r>
              <a:rPr sz="1200">
                <a:solidFill>
                  <a:srgbClr val="4A403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原理：同一条线上的牌，在组顺子时会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互相</a:t>
            </a: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竞争</a:t>
            </a: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——你需要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123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，就不太可能同时还需要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456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（因为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234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已经占用了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2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3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）。所以别人打了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1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，同线的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 4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4038"/>
                </a:solidFill>
                <a:latin typeface="Microsoft YaHei"/>
                <a:ea typeface="Microsoft YaHei"/>
              </a:rPr>
              <a:t>7 </a:t>
            </a:r>
            <a:r>
              <a:rPr lang="zh-CN" sz="1200">
                <a:solidFill>
                  <a:srgbClr val="4A4038"/>
                </a:solidFill>
                <a:latin typeface="Microsoft YaHei"/>
                <a:ea typeface="Microsoft YaHei"/>
              </a:rPr>
              <a:t>相对安全。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753225" y="3657600"/>
            <a:ext cx="4867275" cy="1428750"/>
          </a:xfrm>
          <a:prstGeom prst="roundRect">
            <a:avLst>
              <a:gd name="adj" fmla="val 8000"/>
            </a:avLst>
          </a:prstGeom>
          <a:solidFill>
            <a:srgbClr val="FFF5F0"/>
          </a:solidFill>
          <a:ln w="12700">
            <a:solidFill>
              <a:srgbClr val="F5D5C5"/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905625" y="3810000"/>
            <a:ext cx="4562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1A1A"/>
                </a:solidFill>
                <a:latin typeface="Microsoft YaHei"/>
                <a:ea typeface="Microsoft YaHei"/>
              </a:rPr>
              <a:t>🛡️ </a:t>
            </a:r>
            <a:r>
              <a:rPr lang="zh-CN" sz="1200" b="1">
                <a:solidFill>
                  <a:srgbClr val="8B1A1A"/>
                </a:solidFill>
                <a:latin typeface="Microsoft YaHei"/>
                <a:ea typeface="Microsoft YaHei"/>
              </a:rPr>
              <a:t>尾盘安全铁律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905625" y="4057650"/>
            <a:ext cx="4562475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4A4038"/>
                </a:solidFill>
                <a:latin typeface="Microsoft YaHei"/>
                <a:ea typeface="Microsoft YaHei"/>
              </a:rPr>
              <a:t>打熟不打生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：跟上家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&gt;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对家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 &gt; 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下家</a:t>
            </a:r>
            <a:endParaRPr/>
          </a:p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4A4038"/>
                </a:solidFill>
                <a:latin typeface="Microsoft YaHei"/>
                <a:ea typeface="Microsoft YaHei"/>
              </a:rPr>
              <a:t>尾盘打边张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7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万比</a:t>
            </a:r>
            <a:r>
              <a:rPr lang="en-US" sz="1125">
                <a:solidFill>
                  <a:srgbClr val="4A4038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万安全</a:t>
            </a:r>
            <a:endParaRPr/>
          </a:p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4A4038"/>
                </a:solidFill>
                <a:latin typeface="Microsoft YaHei"/>
                <a:ea typeface="Microsoft YaHei"/>
              </a:rPr>
              <a:t>听在碰过的牌上</a:t>
            </a:r>
            <a:r>
              <a:rPr lang="zh-CN" sz="1125">
                <a:solidFill>
                  <a:srgbClr val="4A4038"/>
                </a:solidFill>
                <a:latin typeface="Microsoft YaHei"/>
                <a:ea typeface="Microsoft YaHei"/>
              </a:rPr>
              <a:t>：别人碰过的牌再出来的概率低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753225" y="5219700"/>
            <a:ext cx="4867275" cy="742950"/>
          </a:xfrm>
          <a:prstGeom prst="roundRect">
            <a:avLst>
              <a:gd name="adj" fmla="val 10256"/>
            </a:avLst>
          </a:prstGeom>
          <a:solidFill>
            <a:srgbClr val="C9A227">
              <a:alpha val="8000"/>
            </a:srgbClr>
          </a:solidFill>
          <a:ln w="12700">
            <a:solidFill>
              <a:srgbClr val="E8D8A8"/>
            </a:solidFill>
            <a:prstDash val="solid"/>
          </a:ln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86575" y="5353050"/>
            <a:ext cx="4600575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"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跟着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1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、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4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、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7</a:t>
            </a:r>
            <a:r>
              <a:rPr lang="zh-CN" sz="1050" i="1">
                <a:solidFill>
                  <a:srgbClr val="6B5636"/>
                </a:solidFill>
                <a:latin typeface="Microsoft YaHei"/>
                <a:ea typeface="Microsoft YaHei"/>
              </a:rPr>
              <a:t>这样的线打牌，避免放炮的意思</a:t>
            </a:r>
            <a:r>
              <a:rPr lang="en-US" sz="1050" i="1">
                <a:solidFill>
                  <a:srgbClr val="6B5636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60000"/>
              </a:lnSpc>
            </a:pP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——《理论册》第</a:t>
            </a:r>
            <a:r>
              <a:rPr lang="en-US" sz="900" i="1">
                <a:solidFill>
                  <a:srgbClr val="6B5636"/>
                </a:solidFill>
                <a:latin typeface="Microsoft YaHei"/>
                <a:ea typeface="Microsoft YaHei"/>
              </a:rPr>
              <a:t> 4 </a:t>
            </a: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节</a:t>
            </a:r>
            <a:r>
              <a:rPr lang="en-US" sz="900" i="1">
                <a:solidFill>
                  <a:srgbClr val="6B5636"/>
                </a:solidFill>
                <a:latin typeface="Microsoft YaHei"/>
                <a:ea typeface="Microsoft YaHei"/>
              </a:rPr>
              <a:t> · 70 </a:t>
            </a:r>
            <a:r>
              <a:rPr lang="zh-CN" sz="900" i="1">
                <a:solidFill>
                  <a:srgbClr val="6B5636"/>
                </a:solidFill>
                <a:latin typeface="Microsoft YaHei"/>
                <a:ea typeface="Microsoft YaHei"/>
              </a:rPr>
              <a:t>人划线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220450" y="64008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9" name="" descr="&lt;Slide style={{&#10;  width: '1280px', height: '720px',&#10;  background: '#FAF7F2', padding: '40px 60px 20px',&#10;  flexDirection: 'column',&#10;}}&gt;&#10;  {/* A 标题区 */}&#10;  &lt;Box style={{ marginBottom: 12 }}&gt;&#10;    &lt;Box style={{ flexDirection: 'row', alignItems: 'center', gap: 12, marginBottom: 4 }}&gt;&#10;      &lt;Box style={{ background: '#C9A227', borderRadius: 6, padding: '4px 10px' }}&gt;&#10;        &lt;Text style={{ fontSize: 12, fontWeight: 'bold', color: '#fff' }}&gt;战术库&lt;/Text&gt;&#10;      &lt;/Box&gt;&#10;      &lt;Text style={{ fontSize: 14, color: '#6B6B6B' }}&gt;第三章 · 攻防战术&lt;/Text&gt;&#10;    &lt;/Box&gt;&#10;    &lt;Text style={{ fontSize: 36, fontWeight: 'bold', color: '#2B2B2B' }}&gt;&#10;      腾挪 · &lt;span style={{ color: '#C9A227' }}&gt;放飞鸽&lt;/span&gt; · 欺骗&#10;    &lt;/Text&gt;&#10;  &lt;/Box&gt;&#10;  {/* B 内容区 - 左标题+右内容 30:70 */}&#10;  &lt;Box style={{ flexDirection: 'row', gap: 20, flex: 1, height: 500 }}&gt;&#10;    {/* 左侧色块标题栏 30% */}&#10;    &lt;Box style={{ flex: 30, background: 'linear-gradient(135deg, #8B1A1A 0%, #6B1010 100%)', borderRadius: 16, padding: 24, flexDirection: 'column', justifyContent: 'center', gap: 16 }}&gt;&#10;      &lt;Text style={{ fontSize: 14, color: '#E8C98A', letterSpacing: 4 }}&gt;TACTICS&lt;/Text&gt;&#10;      &lt;Text style={{ fontSize: 32, fontWeight: 'bold', color: '#FDF6EC', lineHeight: 1.3 }}&gt;三种&lt;br /&gt;进阶&lt;br /&gt;战术&lt;/Text&gt;&#10;      &lt;Text style={{ fontSize: 15, color: '#F3D9B5', lineHeight: 1.7 }}&gt;&#10;        都是在机会数基础上的&quot;高阶操作&quot;：&lt;br /&gt;&lt;br /&gt;&#10;        &lt;span style={{ fontWeight: 'bold', color: '#E8C98A' }}&gt;先算机会数定方向&lt;/span&gt;，再考虑骗招和误导。&#10;      &lt;/Text&gt;&#10;    &lt;/Box&gt;&#10;    {/* 右侧三张战术卡片 70% */}&#10;    &lt;Box style={{ flex: 70, flexDirection: 'column', gap: 12 }}&gt;&#10;      {/* 腾挪 */}&#10;      &lt;Box style={{ flex: 1, background: '#FFFEF8', borderRadius: 12, padding: 16, border: '1px solid #eee4d2', flexDirection: 'row', gap: 16, alignItems: 'center' }}&gt;&#10;        &lt;Box style={{ width: 48, height: 48, borderRadius: 12, background: '#1A7F5C', justifyContent: 'center', alignItems: 'center', flexShrink: 0 }}&gt;&#10;          &lt;Text style={{ fontSize: 22, fontWeight: 'bold', color: '#fff' }}&gt;腾&lt;/Text&gt;&#10;        &lt;/Box&gt;&#10;        &lt;Box style={{ flex: 1, flexDirection: 'column', gap: 4 }}&gt;&#10;          &lt;Text style={{ fontSize: 18, fontWeight: 'bold', color: '#1A7F5C' }}&gt;腾挪战术&lt;/Text&gt;&#10;          &lt;Text style={{ fontSize: 14, color: '#4a4038', lineHeight: 1.6 }}&gt;&#10;            调整牌型结构腾出最佳进张位，&lt;span style={{ fontWeight: 'bold' }}&gt;不破坏 27/28/37 强组合&lt;/span&gt;。例：手有 2万+7万，进 3万 → 组成 234万顺子，7万留着继续辐射——而不是拆 2+7。&#10;          &lt;/Text&gt;&#10;        &lt;/Box&gt;&#10;        &lt;svg width={200} height={50} viewBox=&quot;0 0 200 50&quot;&gt;&#10;          &lt;rect x=&quot;5&quot; y=&quot;5&quot; width=&quot;40&quot; height=&quot;40&quot; rx=&quot;5&quot; fill=&quot;#F0FBF5&quot; stroke=&quot;#1A7F5C&quot; strokeWidth=&quot;1.5&quot; /&gt;&#10;          &lt;text x=&quot;25&quot; y=&quot;26&quot; textAnchor=&quot;middle&quot; fontSize=&quot;16&quot; fontWeight=&quot;bold&quot; fill=&quot;#1A7F5C&quot;&gt;2&lt;/text&gt;&#10;          &lt;text x=&quot;25&quot; y=&quot;40&quot; textAnchor=&quot;middle&quot; fontSize=&quot;9&quot; fill=&quot;#1A7F5C&quot;&gt;万&lt;/text&gt;&#10;          &lt;text x=&quot;52&quot; y=&quot;28&quot; fontSize=&quot;12&quot; fill=&quot;#1A7F5C&quot;&gt;+&lt;/text&gt;&#10;          &lt;rect x=&quot;60&quot; y=&quot;5&quot; width=&quot;40&quot; height=&quot;40&quot; rx=&quot;5&quot; fill=&quot;#F0FBF5&quot; stroke=&quot;#1A7F5C&quot; strokeWidth=&quot;1.5&quot; /&gt;&#10;          &lt;text x=&quot;80&quot; y=&quot;26&quot; textAnchor=&quot;middle&quot; fontSize=&quot;16&quot; fontWeight=&quot;bold&quot; fill=&quot;#1A7F5C&quot;&gt;3&lt;/text&gt;&#10;          &lt;text x=&quot;80&quot; y=&quot;40&quot; textAnchor=&quot;middle&quot; fontSize=&quot;9&quot; fill=&quot;#1A7F5C&quot;&gt;万&lt;/text&gt;&#10;          &lt;text x=&quot;107&quot; y=&quot;28&quot; fontSize=&quot;12&quot; fill=&quot;#1A7F5C&quot;&gt;→&lt;/text&gt;&#10;          &lt;rect x=&quot;120&quot; y=&quot;5&quot; width=&quot;40&quot; height=&quot;40&quot; rx=&quot;5&quot; fill=&quot;#FFF5F0&quot; stroke=&quot;#C9A227&quot; strokeWidth=&quot;2&quot; /&gt;&#10;          &lt;text x=&quot;140&quot; y=&quot;26&quot; textAnchor=&quot;middle&quot; fontSize=&quot;16&quot; fontWeight=&quot;bold&quot; fill=&quot;#1A7F5C&quot;&gt;7&lt;/text&gt;&#10;          &lt;text x=&quot;140&quot; y=&quot;40&quot; textAnchor=&quot;middle&quot; fontSize=&quot;9&quot; fill=&quot;#1A7F5C&quot;&gt;万&lt;/text&gt;&#10;          &lt;text x=&quot;170&quot; y=&quot;28&quot; fontSize=&quot;11&quot; fill=&quot;#1A7F5C&quot; fontWeight=&quot;bold&quot;&gt;留着!&lt;/text&gt;&#10;        &lt;/svg&gt;&#10;      &lt;/Box&gt;&#10;      {/* 放飞鸽 */}&#10;      &lt;Box style={{ flex: 1, background: '#FFFEF8', borderRadius: 12, padding: 16, border: '1px solid #eee4d2', flexDirection: 'row', gap: 16, alignItems: 'center' }}&gt;&#10;        &lt;Box style={{ width: 48, height: 48, borderRadius: 12, background: '#C9A227', justifyContent: 'center', alignItems: 'center', flexShrink: 0 }}&gt;&#10;          &lt;Text style={{ fontSize: 22, fontWeight: 'bold', color: '#fff' }}&gt;放&lt;/Text&gt;&#10;        &lt;/Box&gt;&#10;        &lt;Box style={{ flex: 1, flexDirection: 'column', gap: 4 }}&gt;&#10;          &lt;Text style={{ fontSize: 18, fontWeight: 'bold', color: '#C9A227' }}&gt;放飞鸽战术&lt;/Text&gt;&#10;          &lt;Text style={{ fontSize: 14, color: '#4a4038', lineHeight: 1.6 }}&gt;&#10;            碰3筒后&lt;span style={{ fontWeight: 'bold' }}&gt;故意放飛4筒&lt;/span&gt; → 对手以为你不要筒子了，后面更敢打筒子 → 实际你在等自摸。把&quot;看似有用&quot;的牌扔出去，引诱对手松懈。&#10;          &lt;/Text&gt;&#10;        &lt;/Box&gt;&#10;        &lt;svg width={200} height={50} viewBox=&quot;0 0 200 50&quot;&gt;&#10;          &lt;rect x=&quot;5&quot; y=&quot;5&quot; width=&quot;40&quot; height=&quot;40&quot; rx=&quot;5&quot; fill=&quot;#FFF8E8&quot; stroke=&quot;#C9A227&quot; strokeWidth=&quot;1.5&quot; /&gt;&#10;          &lt;text x=&quot;25&quot; y=&quot;26&quot; textAnchor=&quot;middle&quot; fontSize=&quot;16&quot; fontWeight=&quot;bold&quot; fill=&quot;#C0392B&quot;&gt;3&lt;/text&gt;&#10;          &lt;text x=&quot;25&quot; y=&quot;40&quot; textAnchor=&quot;middle&quot; fontSize=&quot;9&quot; fill=&quot;#C0392B&quot;&gt;筒&lt;/text&gt;&#10;          &lt;text x=&quot;52&quot; y=&quot;28&quot; fontSize=&quot;12&quot; fill=&quot;#C9A227&quot;&gt;碰→&lt;/text&gt;&#10;          &lt;rect x=&quot;80&quot; y=&quot;5&quot; width=&quot;40&quot; height=&quot;40&quot; rx=&quot;5&quot; fill=&quot;#FFF5F0&quot; stroke=&quot;#8B1A1A&quot; strokeWidth=&quot;2&quot; strokeDasharray=&quot;3&quot; /&gt;&#10;          &lt;text x=&quot;100&quot; y=&quot;26&quot; textAnchor=&quot;middle&quot; fontSize=&quot;16&quot; fontWeight=&quot;bold&quot; fill=&quot;#C0392B&quot;&gt;4&lt;/text&gt;&#10;          &lt;text x=&quot;100&quot; y=&quot;40&quot; textAnchor=&quot;middle&quot; fontSize=&quot;9&quot; fill=&quot;#C0392B&quot;&gt;筒&lt;/text&gt;&#10;          &lt;text x=&quot;130&quot; y=&quot;28&quot; fontSize=&quot;12&quot; fill=&quot;#8B1A1A&quot; fontWeight=&quot;bold&quot;&gt;放飞!&lt;/text&gt;&#10;          &lt;text x=&quot;165&quot; y=&quot;28&quot; fontSize=&quot;10&quot; fill=&quot;#999&quot;&gt;引诱&lt;/text&gt;&#10;        &lt;/svg&gt;&#10;      &lt;/Box&gt;&#10;      {/* 欺骗 */}&#10;      &lt;Box style={{ flex: 1, background: '#FFFEF8', borderRadius: 12, padding: 16, border: '1px solid #eee4d2', flexDirection: 'row', gap: 16, alignItems: 'center' }}&gt;&#10;        &lt;Box style={{ width: 48, height: 48, borderRadius: 12, background: '#8B1A1A', justifyContent: 'center', alignItems: 'center', flexShrink: 0 }}&gt;&#10;          &lt;Text style={{ fontSize: 22, fontWeight: 'bold', color: '#fff' }}&gt;骗&lt;/Text&gt;&#10;        &lt;/Box&gt;&#10;        &lt;Box style={{ flex: 1, flexDirection: 'column', gap: 4 }}&gt;&#10;          &lt;Text style={{ fontSize: 18, fontWeight: 'bold', color: '#8B1A1A' }}&gt;欺骗战术（单吊骗招）&lt;/Text&gt;&#10;          &lt;Text style={{ fontSize: 14, color: '#4a4038', lineHeight: 1.6 }}&gt;&#10;            单吊 4、7万时，&lt;span style={{ fontWeight: 'bold' }}&gt;故意打中间张 4万&lt;/span&gt;，诱出 7万。258、369 同理——单吊打中间效果比打边张好，因为中间张看起来更&quot;没用&quot;。&#10;          &lt;/Text&gt;&#10;        &lt;/Box&gt;&#10;        &lt;svg width={200} height={50} viewBox=&quot;0 0 200 50&quot;&gt;&#10;          &lt;text x=&quot;10&quot; y=&quot;28&quot; fontSize=&quot;11&quot; fill=&quot;#999&quot;&gt;单吊4/7万&lt;/text&gt;&#10;          &lt;rect x=&quot;65&quot; y=&quot;5&quot; width=&quot;40&quot; height=&quot;40&quot; rx=&quot;5&quot; fill=&quot;#FFF5F0&quot; stroke=&quot;#8B1A1A&quot; strokeWidth=&quot;2&quot; strokeDasharray=&quot;3&quot; /&gt;&#10;          &lt;text x=&quot;85&quot; y=&quot;26&quot; textAnchor=&quot;middle&quot; fontSize=&quot;16&quot; fontWeight=&quot;bold&quot; fill=&quot;#1A7F5C&quot;&gt;4&lt;/text&gt;&#10;          &lt;text x=&quot;85&quot; y=&quot;40&quot; textAnchor=&quot;middle&quot; fontSize=&quot;9&quot; fill=&quot;#1A7F5C&quot;&gt;万&lt;/text&gt;&#10;          &lt;text x=&quot;112&quot; y=&quot;28&quot; fontSize=&quot;11&quot; fill=&quot;#8B1A1A&quot; fontWeight=&quot;bold&quot;&gt;打掉→&lt;/text&gt;&#10;          &lt;rect x=&quot;145&quot; y=&quot;5&quot; width=&quot;40&quot; height=&quot;40&quot; rx=&quot;5&quot; fill='#FFF5F0' stroke='#1A7F5C' strokeWidth=&quot;2.5&quot; /&gt;&#10;          &lt;text x=&quot;165&quot; y=&quot;26&quot; textAnchor=&quot;middle&quot; fontSize=&quot;16&quot; fontWeight=&quot;bold&quot; fill=&quot;#1A7F5C&quot;&gt;7&lt;/text&gt;&#10;          &lt;text x=&quot;165&quot; y=&quot;40&quot; textAnchor=&quot;middle&quot; fontSize=&quot;9&quot; fill=&quot;#1A7F5C&quot;&gt;万&lt;/text&gt;&#10;          &lt;text x=&quot;190&quot; y=&quot;28&quot; fontSize=&quot;10&quot; fill=&quot;#1A7F5C&quot; fontWeight=&quot;bold&quot;&gt;到手!&lt;/text&gt;&#10;        &lt;/svg&gt;&#10;      &lt;/Box&gt;&#10;    &lt;/Box&gt;&#10;  &lt;/Box&gt;&#10;  {/* C 页脚 */}&#10;  &lt;Box style={{ height: 40, flexDirection: 'row', justifyContent: 'flex-end', alignItems: 'center', marginTop: 8 }}&gt;&#10;    &lt;Text style={{ fontSize: 14, color: '#a0a0a0' }}&gt;1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571500" y="381000"/>
            <a:ext cx="533400" cy="219075"/>
          </a:xfrm>
          <a:prstGeom prst="roundRect">
            <a:avLst>
              <a:gd name="adj" fmla="val 26087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战术库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219200" y="40957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第三章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攻防战术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腾挪</a:t>
            </a:r>
            <a:r>
              <a:rPr lang="en-US" sz="2700" b="1">
                <a:solidFill>
                  <a:srgbClr val="2B2B2B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C9A227"/>
                </a:solidFill>
                <a:latin typeface="Microsoft YaHei"/>
                <a:ea typeface="Microsoft YaHei"/>
              </a:rPr>
              <a:t>放飞鸽</a:t>
            </a:r>
            <a:r>
              <a:rPr lang="en-US" sz="2700" b="1">
                <a:solidFill>
                  <a:srgbClr val="2B2B2B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欺骗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71500" y="1171575"/>
            <a:ext cx="3257550" cy="4762500"/>
          </a:xfrm>
          <a:prstGeom prst="roundRect">
            <a:avLst>
              <a:gd name="adj" fmla="val 4678"/>
            </a:avLst>
          </a:prstGeom>
          <a:gradFill>
            <a:gsLst>
              <a:gs pos="0">
                <a:srgbClr val="8B1A1A"/>
              </a:gs>
              <a:gs pos="100000">
                <a:srgbClr val="6B10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0100" y="2171700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E8C98A"/>
                </a:solidFill>
                <a:latin typeface="Microsoft YaHei"/>
                <a:ea typeface="Microsoft YaHei"/>
              </a:rPr>
              <a:t>TACTICS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00100" y="2486025"/>
            <a:ext cx="2800350" cy="1428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FDF6EC"/>
                </a:solidFill>
                <a:latin typeface="Microsoft YaHei"/>
                <a:ea typeface="Microsoft YaHei"/>
              </a:rPr>
              <a:t>三种</a:t>
            </a:r>
            <a:endParaRPr/>
          </a:p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FDF6EC"/>
                </a:solidFill>
                <a:latin typeface="Microsoft YaHei"/>
                <a:ea typeface="Microsoft YaHei"/>
              </a:rPr>
              <a:t>进阶</a:t>
            </a:r>
            <a:endParaRPr/>
          </a:p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FDF6EC"/>
                </a:solidFill>
                <a:latin typeface="Microsoft YaHei"/>
                <a:ea typeface="Microsoft YaHei"/>
              </a:rPr>
              <a:t>战术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0100" y="4067175"/>
            <a:ext cx="280035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3D9B5"/>
                </a:solidFill>
                <a:latin typeface="Microsoft YaHei"/>
                <a:ea typeface="Microsoft YaHei"/>
              </a:rPr>
              <a:t>都是在机会数基础上的</a:t>
            </a:r>
            <a:r>
              <a:rPr lang="en-US" sz="1125">
                <a:solidFill>
                  <a:srgbClr val="F3D9B5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3D9B5"/>
                </a:solidFill>
                <a:latin typeface="Microsoft YaHei"/>
                <a:ea typeface="Microsoft YaHei"/>
              </a:rPr>
              <a:t>高阶操作</a:t>
            </a:r>
            <a:r>
              <a:rPr lang="en-US" sz="1125">
                <a:solidFill>
                  <a:srgbClr val="F3D9B5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3D9B5"/>
                </a:solidFill>
                <a:latin typeface="Microsoft YaHei"/>
                <a:ea typeface="Microsoft YaHei"/>
              </a:rPr>
              <a:t>：</a:t>
            </a:r>
            <a:endParaRPr/>
          </a:p>
          <a:p>
            <a:pPr>
              <a:lnSpc>
                <a:spcPct val="170000"/>
              </a:lnSpc>
            </a:pPr>
            <a:r>
              <a:rPr sz="1125">
                <a:solidFill>
                  <a:srgbClr val="F3D9B5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E8C98A"/>
                </a:solidFill>
                <a:latin typeface="Microsoft YaHei"/>
                <a:ea typeface="Microsoft YaHei"/>
              </a:rPr>
              <a:t>先算机会数定方向</a:t>
            </a:r>
            <a:r>
              <a:rPr lang="zh-CN" sz="1125">
                <a:solidFill>
                  <a:srgbClr val="F3D9B5"/>
                </a:solidFill>
                <a:latin typeface="Microsoft YaHei"/>
                <a:ea typeface="Microsoft YaHei"/>
              </a:rPr>
              <a:t>，再考虑骗招和误导。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019550" y="1171575"/>
            <a:ext cx="7600950" cy="1514475"/>
          </a:xfrm>
          <a:prstGeom prst="roundRect">
            <a:avLst>
              <a:gd name="adj" fmla="val 7547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4171950" y="17049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295775" y="18097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腾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781550" y="1552575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7F5C"/>
                </a:solidFill>
                <a:latin typeface="Microsoft YaHei"/>
                <a:ea typeface="Microsoft YaHei"/>
              </a:rPr>
              <a:t>腾挪战术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781550" y="1800225"/>
            <a:ext cx="4629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调整牌型结构腾出最佳进张位，</a:t>
            </a:r>
            <a:r>
              <a:rPr lang="zh-CN" sz="1050" b="1">
                <a:solidFill>
                  <a:srgbClr val="4A4038"/>
                </a:solidFill>
                <a:latin typeface="Microsoft YaHei"/>
                <a:ea typeface="Microsoft YaHei"/>
              </a:rPr>
              <a:t>不破坏</a:t>
            </a:r>
            <a:r>
              <a:rPr lang="en-US" sz="1050" b="1">
                <a:solidFill>
                  <a:srgbClr val="4A4038"/>
                </a:solidFill>
                <a:latin typeface="Microsoft YaHei"/>
                <a:ea typeface="Microsoft YaHei"/>
              </a:rPr>
              <a:t> 27/28/37 </a:t>
            </a:r>
            <a:r>
              <a:rPr lang="zh-CN" sz="1050" b="1">
                <a:solidFill>
                  <a:srgbClr val="4A4038"/>
                </a:solidFill>
                <a:latin typeface="Microsoft YaHei"/>
                <a:ea typeface="Microsoft YaHei"/>
              </a:rPr>
              <a:t>强组合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。例：手有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2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+7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万，进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3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组成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234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万顺子，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7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万留着继续辐射——而不是拆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2+7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63100" y="1695450"/>
            <a:ext cx="1905000" cy="476250"/>
          </a:xfrm>
          <a:prstGeom prst="rect">
            <a:avLst/>
          </a:prstGeom>
          <a:ln/>
        </p:spPr>
      </p:pic>
      <p:sp>
        <p:nvSpPr>
          <p:cNvPr id="55" name=""/>
          <p:cNvSpPr/>
          <p:nvPr/>
        </p:nvSpPr>
        <p:spPr>
          <a:xfrm rot="0" flipH="0" flipV="0">
            <a:off x="4019550" y="2800350"/>
            <a:ext cx="7600950" cy="1504950"/>
          </a:xfrm>
          <a:prstGeom prst="roundRect">
            <a:avLst>
              <a:gd name="adj" fmla="val 7595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4171950" y="33242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295775" y="34290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放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781550" y="3171825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9A227"/>
                </a:solidFill>
                <a:latin typeface="Microsoft YaHei"/>
                <a:ea typeface="Microsoft YaHei"/>
              </a:rPr>
              <a:t>放飞鸽战术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781550" y="3419475"/>
            <a:ext cx="4629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碰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3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筒后</a:t>
            </a:r>
            <a:r>
              <a:rPr lang="zh-CN" sz="1050" b="1">
                <a:solidFill>
                  <a:srgbClr val="4A4038"/>
                </a:solidFill>
                <a:latin typeface="Microsoft YaHei"/>
                <a:ea typeface="Microsoft YaHei"/>
              </a:rPr>
              <a:t>故意放飛</a:t>
            </a:r>
            <a:r>
              <a:rPr lang="en-US" sz="1050" b="1">
                <a:solidFill>
                  <a:srgbClr val="4A4038"/>
                </a:solidFill>
                <a:latin typeface="Microsoft YaHei"/>
                <a:ea typeface="Microsoft YaHei"/>
              </a:rPr>
              <a:t>4</a:t>
            </a:r>
            <a:r>
              <a:rPr lang="zh-CN" sz="1050" b="1">
                <a:solidFill>
                  <a:srgbClr val="4A4038"/>
                </a:solidFill>
                <a:latin typeface="Microsoft YaHei"/>
                <a:ea typeface="Microsoft YaHei"/>
              </a:rPr>
              <a:t>筒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对手以为你不要筒子了，后面更敢打筒子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实际你在等自摸。把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看似有用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的牌扔出去，引诱对手松懈。</a:t>
            </a:r>
            <a:endParaRPr/>
          </a:p>
        </p:txBody>
      </p:sp>
      <p:pic>
        <p:nvPicPr>
          <p:cNvPr id="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563100" y="3314700"/>
            <a:ext cx="1905000" cy="476250"/>
          </a:xfrm>
          <a:prstGeom prst="rect">
            <a:avLst/>
          </a:prstGeom>
          <a:ln/>
        </p:spPr>
      </p:pic>
      <p:sp>
        <p:nvSpPr>
          <p:cNvPr id="61" name=""/>
          <p:cNvSpPr/>
          <p:nvPr/>
        </p:nvSpPr>
        <p:spPr>
          <a:xfrm rot="0" flipH="0" flipV="0">
            <a:off x="4019550" y="4419600"/>
            <a:ext cx="7600950" cy="1514475"/>
          </a:xfrm>
          <a:prstGeom prst="roundRect">
            <a:avLst>
              <a:gd name="adj" fmla="val 7547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4171950" y="49530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295775" y="50577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骗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781550" y="4800600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B1A1A"/>
                </a:solidFill>
                <a:latin typeface="Microsoft YaHei"/>
                <a:ea typeface="Microsoft YaHei"/>
              </a:rPr>
              <a:t>欺骗战术（单吊骗招）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781550" y="5048250"/>
            <a:ext cx="4629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单吊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4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7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万时，</a:t>
            </a:r>
            <a:r>
              <a:rPr lang="zh-CN" sz="1050" b="1">
                <a:solidFill>
                  <a:srgbClr val="4A4038"/>
                </a:solidFill>
                <a:latin typeface="Microsoft YaHei"/>
                <a:ea typeface="Microsoft YaHei"/>
              </a:rPr>
              <a:t>故意打中间张</a:t>
            </a:r>
            <a:r>
              <a:rPr lang="en-US" sz="1050" b="1">
                <a:solidFill>
                  <a:srgbClr val="4A4038"/>
                </a:solidFill>
                <a:latin typeface="Microsoft YaHei"/>
                <a:ea typeface="Microsoft YaHei"/>
              </a:rPr>
              <a:t> 4</a:t>
            </a:r>
            <a:r>
              <a:rPr lang="zh-CN" sz="1050" b="1">
                <a:solidFill>
                  <a:srgbClr val="4A4038"/>
                </a:solidFill>
                <a:latin typeface="Microsoft YaHei"/>
                <a:ea typeface="Microsoft YaHei"/>
              </a:rPr>
              <a:t>万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，诱出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 7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万。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258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369 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同理——单吊打中间效果比打边张好，因为中间张看起来更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没用</a:t>
            </a:r>
            <a:r>
              <a:rPr lang="en-US" sz="1050">
                <a:solidFill>
                  <a:srgbClr val="4A403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563100" y="4943475"/>
            <a:ext cx="1905000" cy="47625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8" name="" descr="&lt;Slide style={{&#10;  width: '1280px', height: '720px',&#10;  background: 'linear-gradient(135deg, #8B1A1A 0%, #5C0E0E 50%, #8B1A1A 100%)',&#10;  padding: '60px', flexDirection: 'column', justifyContent: 'center', alignItems: 'center',&#10;  position: 'relative', overflow: 'hidden',&#10;}}&gt;&#10;  &lt;svg width={500} height={500} viewBox=&quot;0 0 500 500&quot; style={{ position: 'absolute', left: 0, bottom: 0, opacity: 0.05 }}&gt;&#10;    &lt;path d=&quot;M 100 250 L 200 150 L 300 250 L 400 150&quot; fill=&quot;none&quot; stroke=&quot;#fff&quot; strokeWidth=&quot;3&quot; /&gt;&#10;    &lt;path d=&quot;M 100 300 L 200 200 L 300 300 L 400 200&quot; fill=&quot;none&quot; stroke=&quot;#fff&quot; strokeWidth=&quot;3&quot; /&gt;&#10;  &lt;/svg&gt;&#10;  &lt;Box style={{ marginBottom: 16 }}&gt;&#10;    &lt;Text style={{ fontSize: 20, color: '#C9A227', letterSpacing: 6 }}&gt;CHAPTER 04&lt;/Text&gt;&#10;  &lt;/Box&gt;&#10;  &lt;Text style={{ fontSize: 80, fontWeight: 'bold', color: '#FDF6EC', marginBottom: 16 }}&gt;&#10;    实战速查&#10;  &lt;/Text&gt;&#10;  &lt;Text style={{ fontSize: 28, color: '#F3D9B5', marginBottom: 24 }}&gt;&#10;    把理论变成决策&#10;  &lt;/Text&gt;&#10;  &lt;Box style={{ maxWidth: 680, textAlign: 'center' }}&gt;&#10;    &lt;Text style={{ fontSize: 18, color: '#E8C98A', lineHeight: 1.8 }}&gt;&#10;      番种策略表 + 理论→代码落地状态&lt;br /&gt;&#10;      &lt;span style={{ fontSize: 14, opacity: 0.7 }}&gt;这些理论已经变成 majiang-ex 的 AI 大脑&lt;/span&gt;&#10;    &lt;/Text&gt;&#10;  &lt;/Box&gt;&#10;  &lt;Box style={{ position: 'absolute', bottom: 30, right: 60 }}&gt;&#10;    &lt;Text style={{ fontSize: 14, color: '#E8C98A', opacity: 0.5 }}&gt;1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1A1A"/>
              </a:gs>
              <a:gs pos="50000">
                <a:srgbClr val="5C0E0E"/>
              </a:gs>
              <a:gs pos="100000">
                <a:srgbClr val="8B1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219700" y="2095500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C9A227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572000" y="2476500"/>
            <a:ext cx="30480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0" b="1">
                <a:solidFill>
                  <a:srgbClr val="FDF6EC"/>
                </a:solidFill>
                <a:latin typeface="Microsoft YaHei"/>
                <a:ea typeface="Microsoft YaHei"/>
              </a:rPr>
              <a:t>实战速查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162550" y="3543300"/>
            <a:ext cx="1866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F3D9B5"/>
                </a:solidFill>
                <a:latin typeface="Microsoft YaHei"/>
                <a:ea typeface="Microsoft YaHei"/>
              </a:rPr>
              <a:t>把理论变成决策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800600" y="4095750"/>
            <a:ext cx="2600325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番种策略表</a:t>
            </a:r>
            <a:r>
              <a:rPr lang="en-US" sz="1350">
                <a:solidFill>
                  <a:srgbClr val="E8C98A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E8C98A"/>
                </a:solidFill>
                <a:latin typeface="Microsoft YaHei"/>
                <a:ea typeface="Microsoft YaHei"/>
              </a:rPr>
              <a:t>理论→代码落地状态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这些理论已经变成</a:t>
            </a:r>
            <a:r>
              <a:rPr lang="en-US" sz="1050">
                <a:solidFill>
                  <a:srgbClr val="E8C98A"/>
                </a:solidFill>
                <a:latin typeface="Microsoft YaHei"/>
                <a:ea typeface="Microsoft YaHei"/>
              </a:rPr>
              <a:t> majiang-ex </a:t>
            </a: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E8C98A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E8C98A"/>
                </a:solidFill>
                <a:latin typeface="Microsoft YaHei"/>
                <a:ea typeface="Microsoft YaHei"/>
              </a:rPr>
              <a:t>大脑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alphaModFix amt="5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2095500"/>
            <a:ext cx="4762500" cy="476250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210925" y="6410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C98A">
                    <a:alpha val="50000"/>
                  </a:srgbClr>
                </a:solidFill>
                <a:latin typeface="Microsoft YaHei"/>
                <a:ea typeface="Microsoft YaHei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76" name="" descr="&lt;Slide style={{&#10;  width: '1280px', height: '720px',&#10;  background: '#FAF7F2', padding: '40px 60px 20px',&#10;  flexDirection: 'column',&#10;}}&gt;&#10;  {/* A 标题区 */}&#10;  &lt;Box style={{ marginBottom: 16 }}&gt;&#10;    &lt;Box style={{ flexDirection: 'row', alignItems: 'center', gap: 12, marginBottom: 4 }}&gt;&#10;      &lt;Box style={{ background: '#C9A227', borderRadius: 6, padding: '4px 10px' }}&gt;&#10;        &lt;Text style={{ fontSize: 12, fontWeight: 'bold', color: '#fff' }}&gt;成都番种&lt;/Text&gt;&#10;      &lt;/Box&gt;&#10;      &lt;Text style={{ fontSize: 14, color: '#6B6B6B' }}&gt;第四章 · 实战速查&lt;/Text&gt;&#10;    &lt;/Box&gt;&#10;    &lt;Text style={{ fontSize: 36, fontWeight: 'bold', color: '#2B2B2B' }}&gt;&#10;      番种策略&lt;span style={{ color: '#C9A227' }}&gt;速查表&lt;/span&gt;&#10;    &lt;/Text&gt;&#10;  &lt;/Box&gt;&#10;  {/* B 内容区 - 图表+洞察 */}&#10;  &lt;Box style={{ flexDirection: 'row', gap: 24, flex: 1, height: 500 }}&gt;&#10;    {/* 左：番种 Table */}&#10;    &lt;Box style={{ flex: 7, background: '#FFFEF8', borderRadius: 16, padding: 20, border: '1px solid #eee4d2', flexDirection: 'column', gap: 12 }}&gt;&#10;      &lt;Text style={{ fontSize: 18, fontWeight: 'bold', color: '#3a2a1a' }}&gt;7 种番种打法要点&lt;/Text&gt;&#10;      &lt;Table&#10;        style={{ width: '100%', height: 430 }}&#10;        defaultTextStyle={{ fontSize: 14, textAlign: 'center', color: '#222' }}&#10;        defaultCellStyle={{&#10;          border: {&#10;            left: { width: 1, color: '#eee4d2' },&#10;            right: { width: 1, color: '#eee4d2' },&#10;            top: { width: 1, color: '#eee4d2' },&#10;            bottom: { width: 1, color: '#eee4d2' },&#10;          },&#10;        }}&#10;        cells={[&#10;          [&#10;            { text: '番种', textStyle: { bold: true, color: '#fff' }, cellStyle: { background: { color: '#8B1A1A' } } },&#10;            { text: '打法要点', textStyle: { bold: true, color: '#fff' }, cellStyle: { background: { color: '#8B1A1A' } } },&#10;            { text: '关键提醒', textStyle: { bold: true, color: '#fff' }, cellStyle: { background: { color: '#8B1A1A' } } },&#10;          ],&#10;          [&#10;            { text: '基本胡', textStyle: { bold: true, color: '#8B1A1A' } },&#10;            '以速度为先，尽快下听',&#10;            { text: '别贪大，先上听', textStyle: { color: '#1A7F5C', fontSize: 13 } },&#10;          ],&#10;          [&#10;            { text: '对子胡', textStyle: { bold: true, color: '#8B1A1A' }, cellStyle: { background: { color: '#faf5ec' } } },&#10;            { text: '保留对子，注意碰牌时机', cellStyle: { background: { color: '#faf5ec' } } },&#10;            { text: '碰牌别拆了有效搭子', textStyle: { color: '#1A7F5C', fontSize: 13 }, cellStyle: { background: { color: '#faf5ec' } } },&#10;          ],&#10;          [&#10;            { text: '清一色', textStyle: { bold: true, color: '#8B1A1A' } },&#10;            '花色集中，注意定缺配合',&#10;            { text: '缺门花色优先打', textStyle: { color: '#1A7F5C', fontSize: 13 } },&#10;          ],&#10;          [&#10;            { text: '暗七对', textStyle: { bold: true, color: '#8B1A1A' }, cellStyle: { background: { color: '#faf5ec' } } },&#10;            { text: '不碰不杠，全手保留对子潜力', cellStyle: { background: { color: '#faf5ec' } } },&#10;            { text: '手里有对，忍住不碰', textStyle: { color: '#1A7F5C', fontSize: 13 }, cellStyle: { background: { color: '#faf5ec' } } },&#10;          ],&#10;          [&#10;            { text: '带幺九', textStyle: { bold: true, color: '#8B1A1A' } },&#10;            '保留 1、9 结构',&#10;            { text: '多留边张，少留中张', textStyle: { color: '#1A7F5C', fontSize: 13 } },&#10;          ],&#10;          [&#10;            { text: '清对胡', textStyle: { bold: true, color: '#C9A227' }, cellStyle: { background: { color: '#faf5ec' } } },&#10;            { text: '清一色 + 对子胡复合', cellStyle: { background: { color: '#faf5ec' } } },&#10;            { text: '大牌，先看机会数够不够', textStyle: { color: '#1A7F5C', fontSize: 13 }, cellStyle: { background: { color: '#faf5ec' } } },&#10;          ],&#10;          [&#10;            { text: '将对胡', textStyle: { bold: true, color: '#C9A227' } },&#10;            '只含 2、5、8 的对子胡',&#10;            { text: '天然限牌型，起手合适再考虑', textStyle: { color: '#1A7F5C', fontSize: 13 } },&#10;          ],&#10;        ]}&#10;      /&gt;&#10;    &lt;/Box&gt;&#10;    {/* 右：洞察卡 */}&#10;    &lt;Box style={{ flex: 3, flexDirection: 'column', gap: 16 }}&gt;&#10;      &lt;Box style={{ background: '#8B1A1A', borderRadius: 12, padding: 16, flex: 1 }}&gt;&#10;        &lt;Text style={{ fontSize: 16, fontWeight: 'bold', color: '#FDF6EC', marginBottom: 8 }}&gt;🎯 番种是目标&lt;/Text&gt;&#10;        &lt;Text style={{ fontSize: 14, color: '#F3D9B5', lineHeight: 1.7 }}&gt;&#10;          机会数是导航。先定番种方向，&lt;span style={{ color: '#fff', fontWeight: 'bold' }}&gt;再用机会数判断每张牌的取舍&lt;/span&gt;——目标越大，越要算清楚代价。&#10;        &lt;/Text&gt;&#10;      &lt;/Box&gt;&#10;      &lt;Box style={{ background: '#FFFEF8', borderRadius: 12, padding: 16, border: '1px solid #eee4d2', flex: 1 }}&gt;&#10;        &lt;Text style={{ fontSize: 16, fontWeight: 'bold', color: '#1A7F5C', marginBottom: 8 }}&gt;🔄 定缺配合&lt;/Text&gt;&#10;        &lt;Text style={{ fontSize: 14, color: '#4a4038', lineHeight: 1.7 }}&gt;&#10;          定缺看三样：&lt;span style={{ fontWeight: 'bold', color: '#1A7F5C' }}&gt;花色张数、孤张结构、有效搭子&lt;/span&gt;，选预期牌效损失最小的缺门。已进代码强制实现。&#10;        &lt;/Text&gt;&#10;      &lt;/Box&gt;&#10;      &lt;Box style={{ background: '#FFFEF8', borderRadius: 12, padding: 16, border: '1px solid #eee4d2', flex: 1 }}&gt;&#10;        &lt;Text style={{ fontSize: 16, fontWeight: 'bold', color: '#C9A227', marginBottom: 8 }}&gt;🃏 换三张&lt;/Text&gt;&#10;        &lt;Text style={{ fontSize: 14, color: '#4a4038', lineHeight: 1.7 }}&gt;&#10;          结合牌型花色分布决定换出哪一色——&lt;span style={{ fontWeight: 'bold', color: '#C9A227' }}&gt;缺门花色优先换出&lt;/span&gt;，把负担甩给对手。&#10;        &lt;/Text&gt;&#10;      &lt;/Box&gt;&#10;    &lt;/Box&gt;&#10;  &lt;/Box&gt;&#10;  {/* C 页脚 */}&#10;  &lt;Box style={{ height: 40, flexDirection: 'row', justifyContent: 'flex-end', alignItems: 'center', marginTop: 12 }}&gt;&#10;    &lt;Text style={{ fontSize: 14, color: '#a0a0a0' }}&gt;1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571500" y="3810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成都番种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333500" y="40957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第四章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实战速查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番种策略</a:t>
            </a:r>
            <a:r>
              <a:rPr lang="zh-CN" sz="2700" b="1">
                <a:solidFill>
                  <a:srgbClr val="C9A227"/>
                </a:solidFill>
                <a:latin typeface="Microsoft YaHei"/>
                <a:ea typeface="Microsoft YaHei"/>
              </a:rPr>
              <a:t>速查表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71500" y="1209675"/>
            <a:ext cx="7572375" cy="4800600"/>
          </a:xfrm>
          <a:prstGeom prst="roundRect">
            <a:avLst>
              <a:gd name="adj" fmla="val 3175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62000" y="1400175"/>
            <a:ext cx="7191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7 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种番种打法要点</a:t>
            </a:r>
            <a:endParaRPr/>
          </a:p>
        </p:txBody>
      </p:sp>
      <p:graphicFrame>
        <p:nvGraphicFramePr>
          <p:cNvPr id="84" name=""/>
          <p:cNvGraphicFramePr/>
          <p:nvPr/>
        </p:nvGraphicFramePr>
        <p:xfrm rot="0" flipH="0" flipV="0">
          <a:off x="762000" y="1724025"/>
          <a:ext cx="7191375" cy="4095750"/>
        </p:xfrm>
        <a:graphic>
          <a:graphicData uri="http://schemas.openxmlformats.org/drawingml/2006/table">
            <a:tbl>
              <a:tblGrid>
                <a:gridCol w="879741">
                  <a:extLst>
                    <a:ext uri="{9D8B030D-6E8A-4147-A177-3AD203B41FA5}">
                      <a16:colId val="1"/>
                    </a:ext>
                  </a:extLst>
                </a:gridCol>
                <a:gridCol w="3266637">
                  <a:extLst>
                    <a:ext uri="{9D8B030D-6E8A-4147-A177-3AD203B41FA5}">
                      <a16:colId val="2"/>
                    </a:ext>
                  </a:extLst>
                </a:gridCol>
                <a:gridCol w="304499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119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番种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打法要点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关键提醒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119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1A1A"/>
                          </a:solidFill>
                          <a:latin typeface="Microsoft YaHei"/>
                          <a:ea typeface="Microsoft YaHei"/>
                        </a:rPr>
                        <a:t>基本胡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以速度为先，尽快下听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别贪大，先上听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119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1A1A"/>
                          </a:solidFill>
                          <a:latin typeface="Microsoft YaHei"/>
                          <a:ea typeface="Microsoft YaHei"/>
                        </a:rPr>
                        <a:t>对子胡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保留对子，注意碰牌时机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碰牌别拆了有效搭子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119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1A1A"/>
                          </a:solidFill>
                          <a:latin typeface="Microsoft YaHei"/>
                          <a:ea typeface="Microsoft YaHei"/>
                        </a:rPr>
                        <a:t>清一色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花色集中，注意定缺配合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缺门花色优先打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119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1A1A"/>
                          </a:solidFill>
                          <a:latin typeface="Microsoft YaHei"/>
                          <a:ea typeface="Microsoft YaHei"/>
                        </a:rPr>
                        <a:t>暗七对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不碰不杠，全手保留对子潜力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手里有对，忍住不碰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119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1A1A"/>
                          </a:solidFill>
                          <a:latin typeface="Microsoft YaHei"/>
                          <a:ea typeface="Microsoft YaHei"/>
                        </a:rPr>
                        <a:t>带幺九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保留 1、9 结构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多留边张，少留中张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119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9A227"/>
                          </a:solidFill>
                          <a:latin typeface="Microsoft YaHei"/>
                          <a:ea typeface="Microsoft YaHei"/>
                        </a:rPr>
                        <a:t>清对胡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清一色 + 对子胡复合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大牌，先看机会数够不够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5E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119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9A227"/>
                          </a:solidFill>
                          <a:latin typeface="Microsoft YaHei"/>
                          <a:ea typeface="Microsoft YaHei"/>
                        </a:rPr>
                        <a:t>将对胡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只含 2、5、8 的对子胡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7F5C"/>
                          </a:solidFill>
                          <a:latin typeface="Microsoft YaHei"/>
                          <a:ea typeface="Microsoft YaHei"/>
                        </a:rPr>
                        <a:t>天然限牌型，起手合适再考虑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85" name=""/>
          <p:cNvSpPr/>
          <p:nvPr/>
        </p:nvSpPr>
        <p:spPr>
          <a:xfrm rot="0" flipH="0" flipV="0">
            <a:off x="8372475" y="1209675"/>
            <a:ext cx="3248025" cy="1485900"/>
          </a:xfrm>
          <a:prstGeom prst="roundRect">
            <a:avLst>
              <a:gd name="adj" fmla="val 7692"/>
            </a:avLst>
          </a:prstGeom>
          <a:solidFill>
            <a:srgbClr val="8B1A1A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524875" y="1362075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DF6EC"/>
                </a:solidFill>
                <a:latin typeface="Microsoft YaHei"/>
                <a:ea typeface="Microsoft YaHei"/>
              </a:rPr>
              <a:t>🎯 </a:t>
            </a:r>
            <a:r>
              <a:rPr lang="zh-CN" sz="1200" b="1">
                <a:solidFill>
                  <a:srgbClr val="FDF6EC"/>
                </a:solidFill>
                <a:latin typeface="Microsoft YaHei"/>
                <a:ea typeface="Microsoft YaHei"/>
              </a:rPr>
              <a:t>番种是目标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524875" y="1628775"/>
            <a:ext cx="29432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F3D9B5"/>
                </a:solidFill>
                <a:latin typeface="Microsoft YaHei"/>
                <a:ea typeface="Microsoft YaHei"/>
              </a:rPr>
              <a:t>机会数是导航。先定番种方向，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再用机会数判断每张牌的取舍</a:t>
            </a:r>
            <a:r>
              <a:rPr lang="zh-CN" sz="1050">
                <a:solidFill>
                  <a:srgbClr val="F3D9B5"/>
                </a:solidFill>
                <a:latin typeface="Microsoft YaHei"/>
                <a:ea typeface="Microsoft YaHei"/>
              </a:rPr>
              <a:t>——目标越大，越要算清楚代价。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372475" y="2847975"/>
            <a:ext cx="3248025" cy="1485900"/>
          </a:xfrm>
          <a:prstGeom prst="roundRect">
            <a:avLst>
              <a:gd name="adj" fmla="val 7692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524875" y="3000375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7F5C"/>
                </a:solidFill>
                <a:latin typeface="Microsoft YaHei"/>
                <a:ea typeface="Microsoft YaHei"/>
              </a:rPr>
              <a:t>🔄 </a:t>
            </a:r>
            <a:r>
              <a:rPr lang="zh-CN" sz="1200" b="1">
                <a:solidFill>
                  <a:srgbClr val="1A7F5C"/>
                </a:solidFill>
                <a:latin typeface="Microsoft YaHei"/>
                <a:ea typeface="Microsoft YaHei"/>
              </a:rPr>
              <a:t>定缺配合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524875" y="3267075"/>
            <a:ext cx="29432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定缺看三样：</a:t>
            </a:r>
            <a:r>
              <a:rPr lang="zh-CN" sz="1050" b="1">
                <a:solidFill>
                  <a:srgbClr val="1A7F5C"/>
                </a:solidFill>
                <a:latin typeface="Microsoft YaHei"/>
                <a:ea typeface="Microsoft YaHei"/>
              </a:rPr>
              <a:t>花色张数、孤张结构、有效搭子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，选预期牌效损失最小的缺门。已进代码强制实现。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372475" y="4486275"/>
            <a:ext cx="3248025" cy="1485900"/>
          </a:xfrm>
          <a:prstGeom prst="roundRect">
            <a:avLst>
              <a:gd name="adj" fmla="val 7692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524875" y="4638675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9A227"/>
                </a:solidFill>
                <a:latin typeface="Microsoft YaHei"/>
                <a:ea typeface="Microsoft YaHei"/>
              </a:rPr>
              <a:t>🃏 </a:t>
            </a:r>
            <a:r>
              <a:rPr lang="zh-CN" sz="1200" b="1">
                <a:solidFill>
                  <a:srgbClr val="C9A227"/>
                </a:solidFill>
                <a:latin typeface="Microsoft YaHei"/>
                <a:ea typeface="Microsoft YaHei"/>
              </a:rPr>
              <a:t>换三张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524875" y="4905375"/>
            <a:ext cx="29432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结合牌型花色分布决定换出哪一色——</a:t>
            </a:r>
            <a:r>
              <a:rPr lang="zh-CN" sz="1050" b="1">
                <a:solidFill>
                  <a:srgbClr val="C9A227"/>
                </a:solidFill>
                <a:latin typeface="Microsoft YaHei"/>
                <a:ea typeface="Microsoft YaHei"/>
              </a:rPr>
              <a:t>缺门花色优先换出</a:t>
            </a:r>
            <a:r>
              <a:rPr lang="zh-CN" sz="1050">
                <a:solidFill>
                  <a:srgbClr val="4A4038"/>
                </a:solidFill>
                <a:latin typeface="Microsoft YaHei"/>
                <a:ea typeface="Microsoft YaHei"/>
              </a:rPr>
              <a:t>，把负担甩给对手。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5" name="" descr="&lt;Slide style={{&#10;  width: '1280px', height: '720px',&#10;  background: '#FAF7F2', padding: '40px 60px 20px',&#10;  flexDirection: 'column',&#10;}}&gt;&#10;  {/* A 标题区 */}&#10;  &lt;Box style={{ marginBottom: 16 }}&gt;&#10;    &lt;Box style={{ flexDirection: 'row', alignItems: 'center', gap: 12, marginBottom: 4 }}&gt;&#10;      &lt;Box style={{ background: '#1A7F5C', borderRadius: 6, padding: '4px 10px' }}&gt;&#10;        &lt;Text style={{ fontSize: 12, fontWeight: 'bold', color: '#fff' }}&gt;落地状态&lt;/Text&gt;&#10;      &lt;/Box&gt;&#10;      &lt;Text style={{ fontSize: 14, color: '#6B6B6B' }}&gt;第四章 · 实战速查&lt;/Text&gt;&#10;    &lt;/Box&gt;&#10;    &lt;Text style={{ fontSize: 36, fontWeight: 'bold', color: '#2B2B2B' }}&gt;&#10;      理论 → 代码&lt;span style={{ color: '#1A7F5C' }}&gt;，落地了多少？&lt;/span&gt;&#10;    &lt;/Text&gt;&#10;  &lt;/Box&gt;&#10;  {/* B 内容区 - 巨型数字 + 洞察（非对称 60:40） */}&#10;  &lt;Box style={{ flexDirection: 'row', gap: 24, flex: 1, height: 500 }}&gt;&#10;    {/* 左：SVG 状态板 */}&#10;    &lt;Box style={{ flex: 6, background: '#FFFEF8', borderRadius: 16, padding: 24, border: '1px solid #eee4d2', flexDirection: 'column', gap: 10 }}&gt;&#10;      &lt;Text style={{ fontSize: 18, fontWeight: 'bold', color: '#3a2a1a', marginBottom: 4 }}&gt;7 个理论点 → 5 个已进代码&lt;/Text&gt;&#10;      {/* 已实现 5 项 */}&#10;      &lt;Box style={{ flexDirection: 'row', alignItems: 'center', gap: 12 }}&gt;&#10;        &lt;Box style={{ width: 22, height: 22, borderRadius: 11, background: '#1A7F5C', alignItems: 'center', justifyContent: 'center' }}&gt;&#10;          &lt;Text style={{ fontSize: 13, fontWeight: 'bold', color: '#fff' }}&gt;✓&lt;/Text&gt;&#10;        &lt;/Box&gt;&#10;        &lt;Text style={{ fontSize: 15, fontWeight: 'bold', color: '#2B2B2B', width: 140 }}&gt;机会数计算&lt;/Text&gt;&#10;        &lt;Text style={{ fontSize: 13, color: '#6B6B6B' }}&gt;mahjongTheory.ts · 已接入 AI 出牌&lt;/Text&gt;&#10;      &lt;/Box&gt;&#10;      &lt;Box style={{ flexDirection: 'row', alignItems: 'center', gap: 12 }}&gt;&#10;        &lt;Box style={{ width: 22, height: 22, borderRadius: 11, background: '#1A7F5C', alignItems: 'center', justifyContent: 'center' }}&gt;&#10;          &lt;Text style={{ fontSize: 13, fontWeight: 'bold', color: '#fff' }}&gt;✓&lt;/Text&gt;&#10;        &lt;/Box&gt;&#10;        &lt;Text style={{ fontSize: 15, fontWeight: 'bold', color: '#2B2B2B', width: 140 }}&gt;强组合检测&lt;/Text&gt;&#10;        &lt;Text style={{ fontSize: 13, color: '#6B6B6B' }}&gt;复盘「拆强组合」诊断&lt;/Text&gt;&#10;      &lt;/Box&gt;&#10;      &lt;Box style={{ flexDirection: 'row', alignItems: 'center', gap: 12 }}&gt;&#10;        &lt;Box style={{ width: 22, height: 22, borderRadius: 11, background: '#1A7F5C', alignItems: 'center', justifyContent: 'center' }}&gt;&#10;          &lt;Text style={{ fontSize: 13, fontWeight: 'bold', color: '#fff' }}&gt;✓&lt;/Text&gt;&#10;        &lt;/Box&gt;&#10;        &lt;Text style={{ fontSize: 15, fontWeight: 'bold', color: '#2B2B2B', width: 140 }}&gt;安全分&lt;/Text&gt;&#10;        &lt;Text style={{ fontSize: 13, color: '#6B6B6B' }}&gt;复盘「尾盘危险牌」诊断&lt;/Text&gt;&#10;      &lt;/Box&gt;&#10;      &lt;Box style={{ flexDirection: 'row', alignItems: 'center', gap: 12 }}&gt;&#10;        &lt;Box style={{ width: 22, height: 22, borderRadius: 11, background: '#1A7F5C', alignItems: 'center', justifyContent: 'center' }}&gt;&#10;          &lt;Text style={{ fontSize: 13, fontWeight: 'bold', color: '#fff' }}&gt;✓&lt;/Text&gt;&#10;        &lt;/Box&gt;&#10;        &lt;Text style={{ fontSize: 15, fontWeight: 'bold', color: '#2B2B2B', width: 140 }}&gt;番种速查&lt;/Text&gt;&#10;        &lt;Text style={{ fontSize: 13, color: '#6B6B6B' }}&gt;CHENGDU_FAN_TABLE&lt;/Text&gt;&#10;      &lt;/Box&gt;&#10;      &lt;Box style={{ flexDirection: 'row', alignItems: 'center', gap: 12, marginBottom: 8 }}&gt;&#10;        &lt;Box style={{ width: 22, height: 22, borderRadius: 11, background: '#1A7F5C', alignItems: 'center', justifyContent: 'center' }}&gt;&#10;          &lt;Text style={{ fontSize: 13, fontWeight: 'bold', color: '#fff' }}&gt;✓&lt;/Text&gt;&#10;        &lt;/Box&gt;&#10;        &lt;Text style={{ fontSize: 15, fontWeight: 'bold', color: '#2B2B2B', width: 140 }}&gt;复盘引擎&lt;/Text&gt;&#10;        &lt;Text style={{ fontSize: 13, color: '#6B6B6B' }}&gt;analyzer.ts · 2 问题 + 1 亮点&lt;/Text&gt;&#10;      &lt;/Box&gt;&#10;      {/* 待做 2 项 */}&#10;      &lt;Box style={{ background: '#faf5ec', borderRadius: 10, padding: '10px 14px', gap: 8, flexDirection: 'column' }}&gt;&#10;        &lt;Box style={{ flexDirection: 'row', alignItems: 'center', gap: 12 }}&gt;&#10;          &lt;Box style={{ width: 22, height: 22, borderRadius: 11, background: '#C9A227', alignItems: 'center', justifyContent: 'center' }}&gt;&#10;            &lt;Text style={{ fontSize: 12, fontWeight: 'bold', color: '#fff' }}&gt;…&lt;/Text&gt;&#10;          &lt;/Box&gt;&#10;          &lt;Text style={{ fontSize: 15, fontWeight: 'bold', color: '#8B6F1F', width: 140 }}&gt;训练题生成&lt;/Text&gt;&#10;          &lt;Text style={{ fontSize: 13, color: '#8a7a5a' }}&gt;M3 · 出「打哪张机会数最大」题&lt;/Text&gt;&#10;        &lt;/Box&gt;&#10;        &lt;Box style={{ flexDirection: 'row', alignItems: 'center', gap: 12 }}&gt;&#10;          &lt;Box style={{ width: 22, height: 22, borderRadius: 11, background: '#C9A227', alignItems: 'center', justifyContent: 'center' }}&gt;&#10;            &lt;Text style={{ fontSize: 12, fontWeight: 'bold', color: '#fff' }}&gt;…&lt;/Text&gt;&#10;          &lt;/Box&gt;&#10;          &lt;Text style={{ fontSize: 15, fontWeight: 'bold', color: '#8B6F1F', width: 140 }}&gt;副露牌效评估&lt;/Text&gt;&#10;          &lt;Text style={{ fontSize: 13, color: '#8a7a5a' }}&gt;M4 · 碰/杠后的机会数计算&lt;/Text&gt;&#10;        &lt;/Box&gt;&#10;      &lt;/Box&gt;&#10;    &lt;/Box&gt;&#10;    {/* 右：巨型数字 */}&#10;    &lt;Box style={{ flex: 4, background: 'linear-gradient(150deg, #8B1A1A 0%, #5C0E0E 100%)', borderRadius: 16, padding: 24, flexDirection: 'column', justifyContent: 'center', alignItems: 'center', gap: 10 }}&gt;&#10;      &lt;Text style={{ fontSize: 110, fontWeight: 'bold', color: '#FDF6EC', lineHeight: 1 }}&gt;5&lt;/Text&gt;&#10;      &lt;Text style={{ fontSize: 22, color: '#F3D9B5', fontWeight: 'bold' }}&gt;/ 7 理论点已落地&lt;/Text&gt;&#10;      {/* 进度条：5 绿 2 金 */}&#10;      &lt;svg width={300} height={26} viewBox=&quot;0 0 300 26&quot; style={{ marginTop: 8 }}&gt;&#10;        &lt;rect x=&quot;0&quot; y=&quot;6&quot; width=&quot;40&quot; height=&quot;14&quot; rx=&quot;7&quot; fill=&quot;#1A7F5C&quot; /&gt;&#10;        &lt;rect x=&quot;44&quot; y=&quot;6&quot; width=&quot;40&quot; height=&quot;14&quot; rx=&quot;7&quot; fill=&quot;#1A7F5C&quot; /&gt;&#10;        &lt;rect x=&quot;88&quot; y=&quot;6&quot; width=&quot;40&quot; height=&quot;14&quot; rx=&quot;7&quot; fill=&quot;#1A7F5C&quot; /&gt;&#10;        &lt;rect x=&quot;132&quot; y=&quot;6&quot; width=&quot;40&quot; height=&quot;14&quot; rx=&quot;7&quot; fill=&quot;#1A7F5C&quot; /&gt;&#10;        &lt;rect x=&quot;176&quot; y=&quot;6&quot; width=&quot;40&quot; height=&quot;14&quot; rx=&quot;7&quot; fill=&quot;#1A7F5C&quot; /&gt;&#10;        &lt;rect x=&quot;220&quot; y=&quot;6&quot; width=&quot;40&quot; height=&quot;14&quot; rx=&quot;7&quot; fill=&quot;#C9A227&quot; opacity=&quot;0.55&quot; /&gt;&#10;        &lt;rect x=&quot;264&quot; y=&quot;6&quot; width=&quot;36&quot; height=&quot;14&quot; rx=&quot;7&quot; fill=&quot;#C9A227&quot; opacity=&quot;0.55&quot; /&gt;&#10;      &lt;/svg&gt;&#10;      &lt;Box style={{ flexDirection: 'row', gap: 16, marginTop: 6 }}&gt;&#10;        &lt;Text style={{ fontSize: 13, color: '#E8C98A' }}&gt;92 测试全绿&lt;/Text&gt;&#10;        &lt;Text style={{ fontSize: 13, color: '#E8C98A' }}&gt;·&lt;/Text&gt;&#10;        &lt;Text style={{ fontSize: 13, color: '#E8C98A' }}&gt;tag v0.1-stage&lt;/Text&gt;&#10;      &lt;/Box&gt;&#10;      &lt;Text style={{ fontSize: 14, color: '#F3D9B5', opacity: 0.85, marginTop: 10, textAlign: 'center', lineHeight: 1.6 }}&gt;&#10;        看书学的是理论，&lt;br /&gt;代码里跑的是决策。&#10;      &lt;/Text&gt;&#10;    &lt;/Box&gt;&#10;  &lt;/Box&gt;&#10;  {/* C 页脚 */}&#10;  &lt;Box style={{ height: 40, flexDirection: 'row', justifyContent: 'flex-end', alignItems: 'center', marginTop: 12 }}&gt;&#10;    &lt;Text style={{ fontSize: 14, color: '#a0a0a0' }}&gt;1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571500" y="3810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66750" y="41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落地状态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333500" y="40957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第四章</a:t>
            </a:r>
            <a:r>
              <a:rPr lang="en-US" sz="1050">
                <a:solidFill>
                  <a:srgbClr val="6B6B6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6B6B"/>
                </a:solidFill>
                <a:latin typeface="Microsoft YaHei"/>
                <a:ea typeface="Microsoft YaHei"/>
              </a:rPr>
              <a:t>实战速查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6381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理论</a:t>
            </a:r>
            <a:r>
              <a:rPr lang="en-US" sz="2700" b="1">
                <a:solidFill>
                  <a:srgbClr val="2B2B2B"/>
                </a:solidFill>
                <a:latin typeface="Microsoft YaHei"/>
                <a:ea typeface="Microsoft YaHei"/>
              </a:rPr>
              <a:t> → </a:t>
            </a:r>
            <a:r>
              <a:rPr lang="zh-CN" sz="2700" b="1">
                <a:solidFill>
                  <a:srgbClr val="2B2B2B"/>
                </a:solidFill>
                <a:latin typeface="Microsoft YaHei"/>
                <a:ea typeface="Microsoft YaHei"/>
              </a:rPr>
              <a:t>代码</a:t>
            </a:r>
            <a:r>
              <a:rPr lang="zh-CN" sz="2700" b="1">
                <a:solidFill>
                  <a:srgbClr val="1A7F5C"/>
                </a:solidFill>
                <a:latin typeface="Microsoft YaHei"/>
                <a:ea typeface="Microsoft YaHei"/>
              </a:rPr>
              <a:t>，落地了多少？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71500" y="1209675"/>
            <a:ext cx="6496050" cy="4762500"/>
          </a:xfrm>
          <a:prstGeom prst="roundRect">
            <a:avLst>
              <a:gd name="adj" fmla="val 3200"/>
            </a:avLst>
          </a:prstGeom>
          <a:solidFill>
            <a:srgbClr val="FFFEF8"/>
          </a:solidFill>
          <a:ln w="12700">
            <a:solidFill>
              <a:srgbClr val="EEE4D2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" y="1438275"/>
            <a:ext cx="603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7 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个理论点</a:t>
            </a:r>
            <a:r>
              <a:rPr lang="en-US" sz="1350" b="1">
                <a:solidFill>
                  <a:srgbClr val="3A2A1A"/>
                </a:solidFill>
                <a:latin typeface="Microsoft YaHei"/>
                <a:ea typeface="Microsoft YaHei"/>
              </a:rPr>
              <a:t> → 5 </a:t>
            </a:r>
            <a:r>
              <a:rPr lang="zh-CN" sz="1350" b="1">
                <a:solidFill>
                  <a:srgbClr val="3A2A1A"/>
                </a:solidFill>
                <a:latin typeface="Microsoft YaHei"/>
                <a:ea typeface="Microsoft YaHei"/>
              </a:rPr>
              <a:t>个已进代码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800100" y="17811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57250" y="180975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23950" y="18002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B2B2B"/>
                </a:solidFill>
                <a:latin typeface="Microsoft YaHei"/>
                <a:ea typeface="Microsoft YaHei"/>
              </a:rPr>
              <a:t>机会数计算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2571750" y="1809750"/>
            <a:ext cx="190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B6B"/>
                </a:solidFill>
                <a:latin typeface="Microsoft YaHei"/>
                <a:ea typeface="Microsoft YaHei"/>
              </a:rPr>
              <a:t>mahjongTheory.ts · </a:t>
            </a:r>
            <a:r>
              <a:rPr lang="zh-CN" sz="975">
                <a:solidFill>
                  <a:srgbClr val="6B6B6B"/>
                </a:solidFill>
                <a:latin typeface="Microsoft YaHei"/>
                <a:ea typeface="Microsoft YaHei"/>
              </a:rPr>
              <a:t>已接入</a:t>
            </a:r>
            <a:r>
              <a:rPr lang="en-US" sz="975">
                <a:solidFill>
                  <a:srgbClr val="6B6B6B"/>
                </a:solidFill>
                <a:latin typeface="Microsoft YaHei"/>
                <a:ea typeface="Microsoft YaHei"/>
              </a:rPr>
              <a:t> AI </a:t>
            </a:r>
            <a:r>
              <a:rPr lang="zh-CN" sz="975">
                <a:solidFill>
                  <a:srgbClr val="6B6B6B"/>
                </a:solidFill>
                <a:latin typeface="Microsoft YaHei"/>
                <a:ea typeface="Microsoft YaHei"/>
              </a:rPr>
              <a:t>出牌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00100" y="20859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57250" y="211455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23950" y="21050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B2B2B"/>
                </a:solidFill>
                <a:latin typeface="Microsoft YaHei"/>
                <a:ea typeface="Microsoft YaHei"/>
              </a:rPr>
              <a:t>强组合检测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571750" y="21145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B6B"/>
                </a:solidFill>
                <a:latin typeface="Microsoft YaHei"/>
                <a:ea typeface="Microsoft YaHei"/>
              </a:rPr>
              <a:t>复盘「拆强组合」诊断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00100" y="23907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57250" y="241935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23950" y="24098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B2B2B"/>
                </a:solidFill>
                <a:latin typeface="Microsoft YaHei"/>
                <a:ea typeface="Microsoft YaHei"/>
              </a:rPr>
              <a:t>安全分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2571750" y="2419350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B6B"/>
                </a:solidFill>
                <a:latin typeface="Microsoft YaHei"/>
                <a:ea typeface="Microsoft YaHei"/>
              </a:rPr>
              <a:t>复盘「尾盘危险牌」诊断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800100" y="2695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57250" y="272415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23950" y="27146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B2B2B"/>
                </a:solidFill>
                <a:latin typeface="Microsoft YaHei"/>
                <a:ea typeface="Microsoft YaHei"/>
              </a:rPr>
              <a:t>番种速查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2571750" y="2724150"/>
            <a:ext cx="1390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B6B"/>
                </a:solidFill>
                <a:latin typeface="Microsoft YaHei"/>
                <a:ea typeface="Microsoft YaHei"/>
              </a:rPr>
              <a:t>CHENGDU_FAN_TABLE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800100" y="3000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A7F5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123950" y="30194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B2B2B"/>
                </a:solidFill>
                <a:latin typeface="Microsoft YaHei"/>
                <a:ea typeface="Microsoft YaHei"/>
              </a:rPr>
              <a:t>复盘引擎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2571750" y="302895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B6B"/>
                </a:solidFill>
                <a:latin typeface="Microsoft YaHei"/>
                <a:ea typeface="Microsoft YaHei"/>
              </a:rPr>
              <a:t>analyzer.ts · 2 </a:t>
            </a:r>
            <a:r>
              <a:rPr lang="zh-CN" sz="975">
                <a:solidFill>
                  <a:srgbClr val="6B6B6B"/>
                </a:solidFill>
                <a:latin typeface="Microsoft YaHei"/>
                <a:ea typeface="Microsoft YaHei"/>
              </a:rPr>
              <a:t>问题</a:t>
            </a:r>
            <a:r>
              <a:rPr lang="en-US" sz="975">
                <a:solidFill>
                  <a:srgbClr val="6B6B6B"/>
                </a:solidFill>
                <a:latin typeface="Microsoft YaHei"/>
                <a:ea typeface="Microsoft YaHei"/>
              </a:rPr>
              <a:t> + 1 </a:t>
            </a:r>
            <a:r>
              <a:rPr lang="zh-CN" sz="975">
                <a:solidFill>
                  <a:srgbClr val="6B6B6B"/>
                </a:solidFill>
                <a:latin typeface="Microsoft YaHei"/>
                <a:ea typeface="Microsoft YaHei"/>
              </a:rPr>
              <a:t>亮点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800100" y="3381375"/>
            <a:ext cx="6038850" cy="685800"/>
          </a:xfrm>
          <a:prstGeom prst="roundRect">
            <a:avLst>
              <a:gd name="adj" fmla="val 13889"/>
            </a:avLst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933450" y="34766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81075" y="35147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…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257300" y="34956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B6F1F"/>
                </a:solidFill>
                <a:latin typeface="Microsoft YaHei"/>
                <a:ea typeface="Microsoft YaHei"/>
              </a:rPr>
              <a:t>训练题生成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2705100" y="3505200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7A5A"/>
                </a:solidFill>
                <a:latin typeface="Microsoft YaHei"/>
                <a:ea typeface="Microsoft YaHei"/>
              </a:rPr>
              <a:t>M3 · </a:t>
            </a:r>
            <a:r>
              <a:rPr lang="zh-CN" sz="975">
                <a:solidFill>
                  <a:srgbClr val="8A7A5A"/>
                </a:solidFill>
                <a:latin typeface="Microsoft YaHei"/>
                <a:ea typeface="Microsoft YaHei"/>
              </a:rPr>
              <a:t>出「打哪张机会数最大」题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933450" y="3762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81075" y="38004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…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257300" y="37814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B6F1F"/>
                </a:solidFill>
                <a:latin typeface="Microsoft YaHei"/>
                <a:ea typeface="Microsoft YaHei"/>
              </a:rPr>
              <a:t>副露牌效评估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2705100" y="3790950"/>
            <a:ext cx="1438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7A5A"/>
                </a:solidFill>
                <a:latin typeface="Microsoft YaHei"/>
                <a:ea typeface="Microsoft YaHei"/>
              </a:rPr>
              <a:t>M4 · </a:t>
            </a:r>
            <a:r>
              <a:rPr lang="zh-CN" sz="975">
                <a:solidFill>
                  <a:srgbClr val="8A7A5A"/>
                </a:solidFill>
                <a:latin typeface="Microsoft YaHei"/>
                <a:ea typeface="Microsoft YaHei"/>
              </a:rPr>
              <a:t>碰</a:t>
            </a:r>
            <a:r>
              <a:rPr lang="en-US" sz="975">
                <a:solidFill>
                  <a:srgbClr val="8A7A5A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8A7A5A"/>
                </a:solidFill>
                <a:latin typeface="Microsoft YaHei"/>
                <a:ea typeface="Microsoft YaHei"/>
              </a:rPr>
              <a:t>杠后的机会数计算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296150" y="1209675"/>
            <a:ext cx="4324350" cy="4762500"/>
          </a:xfrm>
          <a:prstGeom prst="roundRect">
            <a:avLst>
              <a:gd name="adj" fmla="val 3524"/>
            </a:avLst>
          </a:prstGeom>
          <a:gradFill>
            <a:gsLst>
              <a:gs pos="0">
                <a:srgbClr val="8B1A1A"/>
              </a:gs>
              <a:gs pos="100000">
                <a:srgbClr val="5C0E0E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163050" y="2076450"/>
            <a:ext cx="59055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FDF6EC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686800" y="3429000"/>
            <a:ext cx="1552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3D9B5"/>
                </a:solidFill>
                <a:latin typeface="Microsoft YaHei"/>
                <a:ea typeface="Microsoft YaHei"/>
              </a:rPr>
              <a:t>/ 7 </a:t>
            </a:r>
            <a:r>
              <a:rPr lang="zh-CN" sz="1650" b="1">
                <a:solidFill>
                  <a:srgbClr val="F3D9B5"/>
                </a:solidFill>
                <a:latin typeface="Microsoft YaHei"/>
                <a:ea typeface="Microsoft YaHei"/>
              </a:rPr>
              <a:t>理论点已落地</a:t>
            </a:r>
            <a:endParaRPr/>
          </a:p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29575" y="3857625"/>
            <a:ext cx="2857500" cy="247650"/>
          </a:xfrm>
          <a:prstGeom prst="rect">
            <a:avLst/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553450" y="4257675"/>
            <a:ext cx="676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C98A"/>
                </a:solidFill>
                <a:latin typeface="Microsoft YaHei"/>
                <a:ea typeface="Microsoft YaHei"/>
              </a:rPr>
              <a:t>92 </a:t>
            </a:r>
            <a:r>
              <a:rPr lang="zh-CN" sz="975">
                <a:solidFill>
                  <a:srgbClr val="E8C98A"/>
                </a:solidFill>
                <a:latin typeface="Microsoft YaHei"/>
                <a:ea typeface="Microsoft YaHei"/>
              </a:rPr>
              <a:t>测试全绿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382125" y="4257675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E8C98A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582150" y="4257675"/>
            <a:ext cx="790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C98A"/>
                </a:solidFill>
                <a:latin typeface="Microsoft YaHei"/>
                <a:ea typeface="Microsoft YaHei"/>
              </a:rPr>
              <a:t>tag v0.1-stage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0A0A0"/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858250" y="4600575"/>
            <a:ext cx="120015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F3D9B5">
                    <a:alpha val="85000"/>
                  </a:srgbClr>
                </a:solidFill>
                <a:latin typeface="Microsoft YaHei"/>
                <a:ea typeface="Microsoft YaHei"/>
              </a:rPr>
              <a:t>看书学的是理论，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F3D9B5">
                    <a:alpha val="85000"/>
                  </a:srgbClr>
                </a:solidFill>
                <a:latin typeface="Microsoft YaHei"/>
                <a:ea typeface="Microsoft YaHei"/>
              </a:rPr>
              <a:t>代码里跑的是决策。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1" name="" descr="&lt;Slide style={{&#10;  width: '1280px', height: '720px',&#10;  background: 'linear-gradient(135deg, #8B1A1A 0%, #5C0E0E 50%, #8B1A1A 100%)',&#10;  padding: '60px', flexDirection: 'column', justifyContent: 'center', alignItems: 'center',&#10;  position: 'relative', overflow: 'hidden',&#10;}}&gt;&#10;  {/* 背景装饰：散落牌块轮廓 */}&#10;  &lt;svg width={680} height={420} viewBox=&quot;0 0 680 420&quot; style={{ position: 'absolute', right: 0, bottom: 0, opacity: 0.07 }}&gt;&#10;    &lt;rect x=&quot;40&quot; y=&quot;40&quot; width=&quot;48&quot; height=&quot;60&quot; rx=&quot;6&quot; fill=&quot;#fff&quot; /&gt;&#10;    &lt;rect x=&quot;100&quot; y=&quot;28&quot; width=&quot;48&quot; height=&quot;60&quot; rx=&quot;6&quot; fill=&quot;#fff&quot; /&gt;&#10;    &lt;rect x=&quot;160&quot; y=&quot;52&quot; width=&quot;48&quot; height=&quot;60&quot; rx=&quot;6&quot; fill=&quot;#fff&quot; /&gt;&#10;    &lt;rect x=&quot;220&quot; y=&quot;34&quot; width=&quot;48&quot; height=&quot;60&quot; rx=&quot;6&quot; fill=&quot;#fff&quot; /&gt;&#10;    &lt;rect x=&quot;280&quot; y=&quot;58&quot; width=&quot;48&quot; height=&quot;60&quot; rx=&quot;6&quot; fill=&quot;#fff&quot; /&gt;&#10;    &lt;rect x=&quot;340&quot; y=&quot;40&quot; width=&quot;48&quot; height=&quot;60&quot; rx=&quot;6&quot; fill=&quot;#fff&quot; /&gt;&#10;    &lt;rect x=&quot;400&quot; y=&quot;26&quot; width=&quot;48&quot; height=&quot;60&quot; rx=&quot;6&quot; fill=&quot;#fff&quot; /&gt;&#10;    &lt;rect x=&quot;460&quot; y=&quot;50&quot; width=&quot;48&quot; height=&quot;60&quot; rx=&quot;6&quot; fill=&quot;#fff&quot; /&gt;&#10;    &lt;rect x=&quot;520&quot; y=&quot;36&quot; width=&quot;48&quot; height=&quot;60&quot; rx=&quot;6&quot; fill=&quot;#fff&quot; /&gt;&#10;    &lt;rect x=&quot;580&quot; y=&quot;60&quot; width=&quot;48&quot; height=&quot;60&quot; rx=&quot;6&quot; fill=&quot;#fff&quot; /&gt;&#10;  &lt;/svg&gt;&#10;  &lt;svg width={500} height={300} viewBox=&quot;0 0 500 300&quot; style={{ position: 'absolute', left: 0, top: 0, opacity: 0.05 }}&gt;&#10;    &lt;path d=&quot;M 100 150 L 200 50 L 300 150 L 400 50&quot; fill=&quot;none&quot; stroke=&quot;#fff&quot; strokeWidth=&quot;3&quot; /&gt;&#10;    &lt;path d=&quot;M 100 200 L 200 100 L 300 200 L 400 100&quot; fill=&quot;none&quot; stroke=&quot;#fff&quot; strokeWidth=&quot;3&quot; /&gt;&#10;  &lt;/svg&gt;&#10;  {/* 中部金句 */}&#10;  &lt;Box style={{ flexDirection: 'column', alignItems: 'center', gap: 20 }}&gt;&#10;    &lt;Text style={{ fontSize: 18, color: '#C9A227', letterSpacing: 8, fontWeight: 'bold' }}&gt;THE END&lt;/Text&gt;&#10;    &lt;Text style={{ fontSize: 72, fontWeight: 'bold', color: '#FDF6EC', letterSpacing: 4 }}&gt;&#10;      数着进张打牌&#10;    &lt;/Text&gt;&#10;    &lt;Box style={{ width: 120, height: 4, background: '#C9A227', borderRadius: 2, marginTop: 4 }} /&gt;&#10;    &lt;Text style={{ fontSize: 24, color: '#F3D9B5' }}&gt;&#10;      从凭手感，到有理论的决策&#10;    &lt;/Text&gt;&#10;    &lt;Text style={{ fontSize: 16, color: '#E8C98A', opacity: 0.8, marginTop: 8 }}&gt;&#10;      两本书 · 四个章节 · 一套已经写进代码的麻将哲学&#10;    &lt;/Text&gt;&#10;  &lt;/Box&gt;&#10;  {/* 底部来源 */}&#10;  &lt;Box style={{ position: 'absolute', bottom: 40, left: 60 }}&gt;&#10;    &lt;Text style={{ fontSize: 14, color: '#E8C98A', opacity: 0.7 }}&gt;&#10;      朱扬《麻将实战心法》· majiang-ex&#10;    &lt;/Text&gt;&#10;  &lt;/Box&gt;&#10;  &lt;Box style={{ position: 'absolute', bottom: 30, right: 60 }}&gt;&#10;    &lt;Text style={{ fontSize: 14, color: '#E8C98A', opacity: 0.5 }}&gt;1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1A1A"/>
              </a:gs>
              <a:gs pos="50000">
                <a:srgbClr val="5C0E0E"/>
              </a:gs>
              <a:gs pos="100000">
                <a:srgbClr val="8B1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448300" y="2219325"/>
            <a:ext cx="1295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600">
                <a:solidFill>
                  <a:srgbClr val="C9A227"/>
                </a:solidFill>
                <a:latin typeface="Microsoft YaHei"/>
                <a:ea typeface="Microsoft YaHei"/>
              </a:rPr>
              <a:t>THE END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924300" y="2619375"/>
            <a:ext cx="43434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300">
                <a:solidFill>
                  <a:srgbClr val="FDF6EC"/>
                </a:solidFill>
                <a:latin typeface="Microsoft YaHei"/>
                <a:ea typeface="Microsoft YaHei"/>
              </a:rPr>
              <a:t>数着进张打牌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5524500" y="36766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724400" y="390525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3D9B5"/>
                </a:solidFill>
                <a:latin typeface="Microsoft YaHei"/>
                <a:ea typeface="Microsoft YaHei"/>
              </a:rPr>
              <a:t>从凭手感，到有理论的决策</a:t>
            </a:r>
            <a:endParaRPr/>
          </a:p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alphaModFix amt="7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0" y="2857500"/>
            <a:ext cx="6477000" cy="4000500"/>
          </a:xfrm>
          <a:prstGeom prst="rect">
            <a:avLst/>
          </a:prstGeom>
          <a:ln/>
        </p:spPr>
      </p:pic>
      <p:pic>
        <p:nvPicPr>
          <p:cNvPr id="148" name=""/>
          <p:cNvPicPr>
            <a:picLocks noChangeAspect="1"/>
          </p:cNvPicPr>
          <p:nvPr/>
        </p:nvPicPr>
        <p:blipFill>
          <a:blip>
            <a:alphaModFix amt="5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4762500" cy="285750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438650" y="4448175"/>
            <a:ext cx="3324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C98A">
                    <a:alpha val="80000"/>
                  </a:srgbClr>
                </a:solidFill>
                <a:latin typeface="Microsoft YaHei"/>
                <a:ea typeface="Microsoft YaHei"/>
              </a:rPr>
              <a:t>两本书</a:t>
            </a:r>
            <a:r>
              <a:rPr lang="en-US" sz="1200">
                <a:solidFill>
                  <a:srgbClr val="E8C98A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E8C98A">
                    <a:alpha val="80000"/>
                  </a:srgbClr>
                </a:solidFill>
                <a:latin typeface="Microsoft YaHei"/>
                <a:ea typeface="Microsoft YaHei"/>
              </a:rPr>
              <a:t>四个章节</a:t>
            </a:r>
            <a:r>
              <a:rPr lang="en-US" sz="1200">
                <a:solidFill>
                  <a:srgbClr val="E8C98A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E8C98A">
                    <a:alpha val="80000"/>
                  </a:srgbClr>
                </a:solidFill>
                <a:latin typeface="Microsoft YaHei"/>
                <a:ea typeface="Microsoft YaHei"/>
              </a:rPr>
              <a:t>一套已经写进代码的麻将哲学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C98A">
                    <a:alpha val="70000"/>
                  </a:srgbClr>
                </a:solidFill>
                <a:latin typeface="Microsoft YaHei"/>
                <a:ea typeface="Microsoft YaHei"/>
              </a:rPr>
              <a:t>朱扬《麻将实战心法》·</a:t>
            </a:r>
            <a:r>
              <a:rPr lang="en-US" sz="1050">
                <a:solidFill>
                  <a:srgbClr val="E8C98A">
                    <a:alpha val="70000"/>
                  </a:srgbClr>
                </a:solidFill>
                <a:latin typeface="Microsoft YaHei"/>
                <a:ea typeface="Microsoft YaHei"/>
              </a:rPr>
              <a:t> majiang-ex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210925" y="6410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C98A">
                    <a:alpha val="50000"/>
                  </a:srgbClr>
                </a:solidFill>
                <a:latin typeface="Microsoft YaHei"/>
                <a:ea typeface="Microsoft YaHei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2026-08-20T14:14:19Z</dcterms:created>
  <dcterms:modified xsi:type="dcterms:W3CDTF">2026-08-20T14:14:19Z</dcterms:modified>
</cp:coreProperties>
</file>